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5a9f30f6-ae33-6672-bf2e-4cba2d4d119f}">
          <p14:sldIdLst>
            <p14:sldId id="256"/>
            <p14:sldId id="257"/>
          </p14:sldIdLst>
        </p14:section>
        <p14:section name="Các luồng" id="{4e28303c-5c45-dcbb-a407-cc600f9ce520}">
          <p14:sldIdLst>
            <p14:sldId id="258"/>
            <p14:sldId id="259"/>
            <p14:sldId id="260"/>
            <p14:sldId id="261"/>
            <p14:sldId id="262"/>
            <p14:sldId id="263"/>
            <p14:sldId id="264"/>
            <p14:sldId id="265"/>
            <p14:sldId id="267"/>
          </p14:sldIdLst>
        </p14:section>
        <p14:section name="Demo &amp; kết" id="{ea61cdbc-d2f7-5b35-9631-b8b447abc016}">
          <p14:sldIdLst>
            <p14:sldId id="266"/>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khi một người qua đời, tài khoản ngân hàng, ví crypto, mạng xã hội, giấy tờ số thường bị mất hoặc không ai biết. LegacyVault giúp lập kế hoạch bàn giao và tự kích hoạt khi chủ sở hữu im lặng, có luật sư xác minh trước khi giao.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bản đồ tổng thể. Các slide sau đi lần lượt từng luồng theo đúng hành trình này, không theo vai trò.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đăng ký thử mật khẩu yếu để thấy thanh đo; đăng nhập bằng tài khoản An đã kích hoạt sẵn.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tạo vault "Tài khoản ngân hàng", thêm 2 tài sản, upload Will.pdf, chọn Lan, chỉ định Minh (Primary) và Hoa (Backup), bật DMS. Chỉ ra banner biến mất.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bấm Check in, mở Activity thấy "DMS check-in". Sau đó chạy SQL #1 để tua thời gian.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sau SQL #1 chờ 1 phút, mở mail Minh, Minh Acknowledge. Tuỳ chọn: SQL #2 để thấy Backup Hoa được kích hoạt sau 5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Minh nộp giấy chứng tử; chuyển sang An thấy vault Locked; Hùng mở hồ sơ, nhắn tin, Approve, Sign bằng OTP.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Lan mở mail, (đăng ký nếu chưa có), Verify identity bằng OTP + CCCD 12 số, xem tài sản, tải Will.pdf, Finish and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Admin mở Audit log lọc theo An để thấy toàn bộ hành trình; mở Alerts; khoá thử một tài khoản.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tóm tắt: trạng thái vault là xương sống nối các luồng lại với nhau.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Chạy theo file KichBan-Demo.md. Nếu scheduler chưa chạy kịp, nói thêm về bảo mật và kiến trúc trong lúc chờ.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Chủ động nêu hạn chế trước khi giảng viên hỏi; cho thấy nhóm hiểu hệ thống và có kế hoạch sửa.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Mời giảng viên đặt câu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09728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2606040"/>
            <a:ext cx="8046720" cy="914400"/>
          </a:xfrm>
          <a:prstGeom prst="rect">
            <a:avLst/>
          </a:prstGeom>
          <a:noFill/>
          <a:ln/>
        </p:spPr>
        <p:txBody>
          <a:bodyPr wrap="square" rtlCol="0"/>
          <a:lstStyle>
            <a:lvl1pPr algn="l" indent="0" marL="0">
              <a:buNone/>
              <a:defRPr lang="en-US" sz="1800" dirty="0">
                <a:solidFill>
                  <a:schemeClr val="accent6"/>
                </a:solidFill>
                <a:latin typeface="Calibri" pitchFamily="34" charset="0"/>
                <a:ea typeface="Calibri" pitchFamily="34" charset="-122"/>
                <a:cs typeface="Calibri" pitchFamily="34" charset="-120"/>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498080" cy="566928"/>
          </a:xfrm>
          <a:prstGeom prst="rect">
            <a:avLst/>
          </a:prstGeom>
          <a:noFill/>
          <a:ln/>
        </p:spPr>
        <p:txBody>
          <a:bodyPr wrap="square" rtlCol="0"/>
          <a:lstStyle>
            <a:lvl1pPr algn="l" indent="0" marL="0">
              <a:buNone/>
              <a:defRPr lang="en-US" sz="28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p:nvPr>
            <p:ph idx="101" type="body" hasCustomPrompt="1"/>
          </p:nvPr>
        </p:nvSpPr>
        <p:spPr>
          <a:xfrm>
            <a:off x="457200" y="804672"/>
            <a:ext cx="7498080" cy="365760"/>
          </a:xfrm>
          <a:prstGeom prst="rect">
            <a:avLst/>
          </a:prstGeom>
          <a:noFill/>
          <a:ln/>
        </p:spPr>
        <p:txBody>
          <a:bodyPr wrap="square" rtlCol="0"/>
          <a:lstStyle>
            <a:lvl1pPr algn="l" indent="0" marL="0">
              <a:buNone/>
              <a:defRPr lang="en-US" sz="1400" dirty="0">
                <a:solidFill>
                  <a:schemeClr val="accent5"/>
                </a:solidFill>
                <a:latin typeface="Calibri" pitchFamily="34" charset="0"/>
                <a:ea typeface="Calibri" pitchFamily="34" charset="-122"/>
                <a:cs typeface="Calibri" pitchFamily="34" charset="-120"/>
              </a:defRPr>
            </a:lvl1pPr>
          </a:lstStyle>
          <a:p>
            <a:pPr algn="l" indent="0" marL="0">
              <a:buNone/>
            </a:pPr>
            <a:endParaRPr lang="en-US" sz="1400" dirty="0"/>
          </a:p>
        </p:txBody>
      </p:sp>
      <p:sp>
        <p:nvSpPr>
          <p:cNvPr id="4" name="Text 0"/>
          <p:cNvSpPr/>
          <p:nvPr/>
        </p:nvSpPr>
        <p:spPr>
          <a:xfrm>
            <a:off x="457200" y="4800600"/>
            <a:ext cx="2743200" cy="228600"/>
          </a:xfrm>
          <a:prstGeom prst="rect">
            <a:avLst/>
          </a:prstGeom>
          <a:noFill/>
          <a:ln/>
        </p:spPr>
        <p:txBody>
          <a:bodyPr wrap="square" lIns="0" tIns="0" rIns="0" bIns="0" rtlCol="0" anchor="ctr"/>
          <a:lstStyle/>
          <a:p>
            <a:pPr indent="0" marL="0">
              <a:buNone/>
            </a:pPr>
            <a:r>
              <a:rPr lang="en-US" sz="1000" dirty="0">
                <a:solidFill>
                  <a:schemeClr val="accent5"/>
                </a:solidFill>
                <a:latin typeface="Calibri" pitchFamily="34" charset="0"/>
                <a:ea typeface="Calibri" pitchFamily="34" charset="-122"/>
                <a:cs typeface="Calibri" pitchFamily="34" charset="-120"/>
              </a:rPr>
              <a:t>LegacyVault</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 descr="LegacyVault shield">    </p:cNvPr>
          <p:cNvPicPr>
            <a:picLocks noChangeAspect="1"/>
          </p:cNvPicPr>
          <p:nvPr/>
        </p:nvPicPr>
        <p:blipFill>
          <a:blip r:embed="rId1"/>
          <a:stretch>
            <a:fillRect/>
          </a:stretch>
        </p:blipFill>
        <p:spPr>
          <a:xfrm>
            <a:off x="548640" y="685800"/>
            <a:ext cx="685800" cy="685800"/>
          </a:xfrm>
          <a:prstGeom prst="rect">
            <a:avLst/>
          </a:prstGeom>
        </p:spPr>
      </p:pic>
      <p:sp>
        <p:nvSpPr>
          <p:cNvPr id="3" name="Text 0"/>
          <p:cNvSpPr/>
          <p:nvPr>
            <p:ph idx="100" type="title" hasCustomPrompt="1"/>
          </p:nvPr>
        </p:nvSpPr>
        <p:spPr>
          <a:xfrm>
            <a:off x="548640" y="1417320"/>
            <a:ext cx="8046720" cy="109728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LegacyVault</a:t>
            </a:r>
            <a:endParaRPr lang="en-US" sz="4000" dirty="0"/>
          </a:p>
        </p:txBody>
      </p:sp>
      <p:sp>
        <p:nvSpPr>
          <p:cNvPr id="4" name="Text 0"/>
          <p:cNvSpPr/>
          <p:nvPr>
            <p:ph idx="101" type="body" hasCustomPrompt="1"/>
          </p:nvPr>
        </p:nvSpPr>
        <p:spPr>
          <a:xfrm>
            <a:off x="548640" y="2606040"/>
            <a:ext cx="8046720" cy="914400"/>
          </a:xfrm>
          <a:prstGeom prst="rect">
            <a:avLst/>
          </a:prstGeom>
          <a:noFill/>
          <a:ln/>
        </p:spPr>
        <p:txBody>
          <a:bodyPr wrap="square" lIns="0" tIns="0" rIns="0" bIns="0" rtlCol="0" anchor="t"/>
          <a:lstStyle/>
          <a:p>
            <a:pPr algn="l" indent="0" marL="0">
              <a:buNone/>
            </a:pPr>
            <a:r>
              <a:rPr lang="en-US" sz="1800" dirty="0">
                <a:solidFill>
                  <a:schemeClr val="accent6"/>
                </a:solidFill>
                <a:latin typeface="Calibri" pitchFamily="34" charset="0"/>
                <a:ea typeface="Calibri" pitchFamily="34" charset="-122"/>
                <a:cs typeface="Calibri" pitchFamily="34" charset="-120"/>
              </a:rPr>
              <a:t>Kho lưu trữ tài sản số với Dead Man's Switch</a:t>
            </a:r>
            <a:endParaRPr lang="en-US" sz="1800" dirty="0"/>
          </a:p>
          <a:p>
            <a:pPr algn="l" indent="0" marL="0">
              <a:buNone/>
            </a:pPr>
            <a:r>
              <a:rPr lang="en-US" sz="1800" dirty="0">
                <a:solidFill>
                  <a:schemeClr val="accent6"/>
                </a:solidFill>
                <a:latin typeface="Calibri" pitchFamily="34" charset="0"/>
                <a:ea typeface="Calibri" pitchFamily="34" charset="-122"/>
                <a:cs typeface="Calibri" pitchFamily="34" charset="-120"/>
              </a:rPr>
              <a:t>Demo các luồng end-to-end</a:t>
            </a:r>
            <a:endParaRPr lang="en-US" sz="1800" dirty="0"/>
          </a:p>
        </p:txBody>
      </p:sp>
      <p:sp>
        <p:nvSpPr>
          <p:cNvPr id="5" name="stack"/>
          <p:cNvSpPr txBox="1"/>
          <p:nvPr/>
        </p:nvSpPr>
        <p:spPr>
          <a:xfrm>
            <a:off x="548640" y="4343400"/>
            <a:ext cx="8046720" cy="320040"/>
          </a:xfrm>
          <a:prstGeom prst="rect">
            <a:avLst/>
          </a:prstGeom>
          <a:noFill/>
          <a:ln/>
        </p:spPr>
        <p:txBody>
          <a:bodyPr wrap="square" lIns="0" tIns="0" rIns="0" bIns="0" rtlCol="0" anchor="ctr"/>
          <a:lstStyle/>
          <a:p>
            <a:pPr indent="0" marL="0">
              <a:buNone/>
            </a:pPr>
            <a:r>
              <a:rPr lang="en-US" sz="1200" dirty="0">
                <a:solidFill>
                  <a:schemeClr val="bg2"/>
                </a:solidFill>
              </a:rPr>
              <a:t>Spring Boot 4 · React 19 · MySQL · AES-256-GCM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498080" cy="566928"/>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Một vòng đời, sáu chặng</a:t>
            </a:r>
            <a:endParaRPr lang="en-US" sz="2800" dirty="0"/>
          </a:p>
        </p:txBody>
      </p:sp>
      <p:sp>
        <p:nvSpPr>
          <p:cNvPr id="3" name="Text 0"/>
          <p:cNvSpPr/>
          <p:nvPr>
            <p:ph idx="101" type="body" hasCustomPrompt="1"/>
          </p:nvPr>
        </p:nvSpPr>
        <p:spPr>
          <a:xfrm>
            <a:off x="457200" y="804672"/>
            <a:ext cx="7498080" cy="365760"/>
          </a:xfrm>
          <a:prstGeom prst="rect">
            <a:avLst/>
          </a:prstGeom>
          <a:noFill/>
          <a:ln/>
        </p:spPr>
        <p:txBody>
          <a:bodyPr wrap="square" lIns="0" tIns="0" rIns="0" bIns="0" rtlCol="0" anchor="t"/>
          <a:lstStyle/>
          <a:p>
            <a:pPr algn="l" indent="0" marL="0">
              <a:buNone/>
            </a:pPr>
            <a:r>
              <a:rPr lang="en-US" sz="1400" dirty="0">
                <a:solidFill>
                  <a:schemeClr val="accent5"/>
                </a:solidFill>
                <a:latin typeface="Calibri" pitchFamily="34" charset="0"/>
                <a:ea typeface="Calibri" pitchFamily="34" charset="-122"/>
                <a:cs typeface="Calibri" pitchFamily="34" charset="-120"/>
              </a:rPr>
              <a:t>Từ lúc lập kế hoạch đến khi tài sản đến tay người thụ hưởng</a:t>
            </a:r>
            <a:endParaRPr lang="en-US" sz="1400" dirty="0"/>
          </a:p>
        </p:txBody>
      </p:sp>
      <p:sp>
        <p:nvSpPr>
          <p:cNvPr id="4" name="timeline"/>
          <p:cNvSpPr/>
          <p:nvPr/>
        </p:nvSpPr>
        <p:spPr>
          <a:xfrm>
            <a:off x="1074420" y="1874520"/>
            <a:ext cx="6995160" cy="0"/>
          </a:xfrm>
          <a:prstGeom prst="line">
            <a:avLst/>
          </a:prstGeom>
          <a:noFill/>
          <a:ln w="25400">
            <a:solidFill>
              <a:schemeClr val="accent2"/>
            </a:solidFill>
            <a:prstDash val="dash"/>
          </a:ln>
        </p:spPr>
      </p:sp>
      <p:sp>
        <p:nvSpPr>
          <p:cNvPr id="5" name="badge-1"/>
          <p:cNvSpPr/>
          <p:nvPr/>
        </p:nvSpPr>
        <p:spPr>
          <a:xfrm>
            <a:off x="708660" y="1508760"/>
            <a:ext cx="731520" cy="731520"/>
          </a:xfrm>
          <a:prstGeom prst="ellipse">
            <a:avLst/>
          </a:prstGeom>
          <a:solidFill>
            <a:schemeClr val="accent1"/>
          </a:solidFill>
          <a:ln w="12700">
            <a:solidFill>
              <a:schemeClr val="accent1"/>
            </a:solidFill>
            <a:prstDash val="solid"/>
          </a:ln>
        </p:spPr>
      </p:sp>
      <p:pic>
        <p:nvPicPr>
          <p:cNvPr id="6" name="icon-2" descr="icon">    </p:cNvPr>
          <p:cNvPicPr>
            <a:picLocks noChangeAspect="1"/>
          </p:cNvPicPr>
          <p:nvPr/>
        </p:nvPicPr>
        <p:blipFill>
          <a:blip r:embed="rId1"/>
          <a:stretch>
            <a:fillRect/>
          </a:stretch>
        </p:blipFill>
        <p:spPr>
          <a:xfrm>
            <a:off x="854964" y="1655064"/>
            <a:ext cx="438912" cy="438912"/>
          </a:xfrm>
          <a:prstGeom prst="rect">
            <a:avLst/>
          </a:prstGeom>
        </p:spPr>
      </p:pic>
      <p:sp>
        <p:nvSpPr>
          <p:cNvPr id="7" name="stage-3"/>
          <p:cNvSpPr txBox="1"/>
          <p:nvPr/>
        </p:nvSpPr>
        <p:spPr>
          <a:xfrm>
            <a:off x="457200" y="2377440"/>
            <a:ext cx="1234440" cy="320040"/>
          </a:xfrm>
          <a:prstGeom prst="rect">
            <a:avLst/>
          </a:prstGeom>
          <a:noFill/>
          <a:ln/>
        </p:spPr>
        <p:txBody>
          <a:bodyPr wrap="square" lIns="0" tIns="0" rIns="0" bIns="0" rtlCol="0" anchor="ctr"/>
          <a:lstStyle/>
          <a:p>
            <a:pPr algn="ctr" indent="0" marL="0">
              <a:buNone/>
            </a:pPr>
            <a:r>
              <a:rPr lang="en-US" sz="1400" b="1" dirty="0">
                <a:solidFill>
                  <a:schemeClr val="tx2"/>
                </a:solidFill>
              </a:rPr>
              <a:t>Lập kế hoạch</a:t>
            </a:r>
            <a:endParaRPr lang="en-US" sz="1400" dirty="0"/>
          </a:p>
        </p:txBody>
      </p:sp>
      <p:sp>
        <p:nvSpPr>
          <p:cNvPr id="8" name="stagedesc-4"/>
          <p:cNvSpPr txBox="1"/>
          <p:nvPr/>
        </p:nvSpPr>
        <p:spPr>
          <a:xfrm>
            <a:off x="457200" y="2697480"/>
            <a:ext cx="1234440" cy="594360"/>
          </a:xfrm>
          <a:prstGeom prst="rect">
            <a:avLst/>
          </a:prstGeom>
          <a:noFill/>
          <a:ln/>
        </p:spPr>
        <p:txBody>
          <a:bodyPr wrap="square" lIns="0" tIns="0" rIns="0" bIns="0" rtlCol="0" anchor="t"/>
          <a:lstStyle/>
          <a:p>
            <a:pPr algn="ctr" indent="0" marL="0">
              <a:buNone/>
            </a:pPr>
            <a:r>
              <a:rPr lang="en-US" sz="1100" dirty="0">
                <a:solidFill>
                  <a:schemeClr val="tx1"/>
                </a:solidFill>
              </a:rPr>
              <a:t>Vault, tài sản, người nhận, Executor</a:t>
            </a:r>
            <a:endParaRPr lang="en-US" sz="1100" dirty="0"/>
          </a:p>
        </p:txBody>
      </p:sp>
      <p:sp>
        <p:nvSpPr>
          <p:cNvPr id="9" name="badge-5"/>
          <p:cNvSpPr/>
          <p:nvPr/>
        </p:nvSpPr>
        <p:spPr>
          <a:xfrm>
            <a:off x="2107692" y="1508760"/>
            <a:ext cx="731520" cy="731520"/>
          </a:xfrm>
          <a:prstGeom prst="ellipse">
            <a:avLst/>
          </a:prstGeom>
          <a:solidFill>
            <a:schemeClr val="accent3"/>
          </a:solidFill>
          <a:ln w="12700">
            <a:solidFill>
              <a:schemeClr val="accent3"/>
            </a:solidFill>
            <a:prstDash val="solid"/>
          </a:ln>
        </p:spPr>
      </p:sp>
      <p:pic>
        <p:nvPicPr>
          <p:cNvPr id="10" name="icon-6" descr="icon">    </p:cNvPr>
          <p:cNvPicPr>
            <a:picLocks noChangeAspect="1"/>
          </p:cNvPicPr>
          <p:nvPr/>
        </p:nvPicPr>
        <p:blipFill>
          <a:blip r:embed="rId2"/>
          <a:stretch>
            <a:fillRect/>
          </a:stretch>
        </p:blipFill>
        <p:spPr>
          <a:xfrm>
            <a:off x="2253996" y="1655064"/>
            <a:ext cx="438912" cy="438912"/>
          </a:xfrm>
          <a:prstGeom prst="rect">
            <a:avLst/>
          </a:prstGeom>
        </p:spPr>
      </p:pic>
      <p:sp>
        <p:nvSpPr>
          <p:cNvPr id="11" name="stage-7"/>
          <p:cNvSpPr txBox="1"/>
          <p:nvPr/>
        </p:nvSpPr>
        <p:spPr>
          <a:xfrm>
            <a:off x="1856232" y="2377440"/>
            <a:ext cx="1234440" cy="320040"/>
          </a:xfrm>
          <a:prstGeom prst="rect">
            <a:avLst/>
          </a:prstGeom>
          <a:noFill/>
          <a:ln/>
        </p:spPr>
        <p:txBody>
          <a:bodyPr wrap="square" lIns="0" tIns="0" rIns="0" bIns="0" rtlCol="0" anchor="ctr"/>
          <a:lstStyle/>
          <a:p>
            <a:pPr algn="ctr" indent="0" marL="0">
              <a:buNone/>
            </a:pPr>
            <a:r>
              <a:rPr lang="en-US" sz="1400" b="1" dirty="0">
                <a:solidFill>
                  <a:schemeClr val="tx2"/>
                </a:solidFill>
              </a:rPr>
              <a:t>Còn sống</a:t>
            </a:r>
            <a:endParaRPr lang="en-US" sz="1400" dirty="0"/>
          </a:p>
        </p:txBody>
      </p:sp>
      <p:sp>
        <p:nvSpPr>
          <p:cNvPr id="12" name="stagedesc-8"/>
          <p:cNvSpPr txBox="1"/>
          <p:nvPr/>
        </p:nvSpPr>
        <p:spPr>
          <a:xfrm>
            <a:off x="1856232" y="2697480"/>
            <a:ext cx="1234440" cy="594360"/>
          </a:xfrm>
          <a:prstGeom prst="rect">
            <a:avLst/>
          </a:prstGeom>
          <a:noFill/>
          <a:ln/>
        </p:spPr>
        <p:txBody>
          <a:bodyPr wrap="square" lIns="0" tIns="0" rIns="0" bIns="0" rtlCol="0" anchor="t"/>
          <a:lstStyle/>
          <a:p>
            <a:pPr algn="ctr" indent="0" marL="0">
              <a:buNone/>
            </a:pPr>
            <a:r>
              <a:rPr lang="en-US" sz="1100" dirty="0">
                <a:solidFill>
                  <a:schemeClr val="tx1"/>
                </a:solidFill>
              </a:rPr>
              <a:t>Check-in định kỳ, mail nhắc</a:t>
            </a:r>
            <a:endParaRPr lang="en-US" sz="1100" dirty="0"/>
          </a:p>
        </p:txBody>
      </p:sp>
      <p:sp>
        <p:nvSpPr>
          <p:cNvPr id="13" name="badge-9"/>
          <p:cNvSpPr/>
          <p:nvPr/>
        </p:nvSpPr>
        <p:spPr>
          <a:xfrm>
            <a:off x="3506724" y="1508760"/>
            <a:ext cx="731520" cy="731520"/>
          </a:xfrm>
          <a:prstGeom prst="ellipse">
            <a:avLst/>
          </a:prstGeom>
          <a:solidFill>
            <a:schemeClr val="accent4"/>
          </a:solidFill>
          <a:ln w="12700">
            <a:solidFill>
              <a:schemeClr val="accent4"/>
            </a:solidFill>
            <a:prstDash val="solid"/>
          </a:ln>
        </p:spPr>
      </p:sp>
      <p:pic>
        <p:nvPicPr>
          <p:cNvPr id="14" name="icon-10" descr="icon">    </p:cNvPr>
          <p:cNvPicPr>
            <a:picLocks noChangeAspect="1"/>
          </p:cNvPicPr>
          <p:nvPr/>
        </p:nvPicPr>
        <p:blipFill>
          <a:blip r:embed="rId3"/>
          <a:stretch>
            <a:fillRect/>
          </a:stretch>
        </p:blipFill>
        <p:spPr>
          <a:xfrm>
            <a:off x="3653028" y="1655064"/>
            <a:ext cx="438912" cy="438912"/>
          </a:xfrm>
          <a:prstGeom prst="rect">
            <a:avLst/>
          </a:prstGeom>
        </p:spPr>
      </p:pic>
      <p:sp>
        <p:nvSpPr>
          <p:cNvPr id="15" name="stage-11"/>
          <p:cNvSpPr txBox="1"/>
          <p:nvPr/>
        </p:nvSpPr>
        <p:spPr>
          <a:xfrm>
            <a:off x="3255264" y="2377440"/>
            <a:ext cx="1234440" cy="320040"/>
          </a:xfrm>
          <a:prstGeom prst="rect">
            <a:avLst/>
          </a:prstGeom>
          <a:noFill/>
          <a:ln/>
        </p:spPr>
        <p:txBody>
          <a:bodyPr wrap="square" lIns="0" tIns="0" rIns="0" bIns="0" rtlCol="0" anchor="ctr"/>
          <a:lstStyle/>
          <a:p>
            <a:pPr algn="ctr" indent="0" marL="0">
              <a:buNone/>
            </a:pPr>
            <a:r>
              <a:rPr lang="en-US" sz="1400" b="1" dirty="0">
                <a:solidFill>
                  <a:schemeClr val="tx2"/>
                </a:solidFill>
              </a:rPr>
              <a:t>Im lặng</a:t>
            </a:r>
            <a:endParaRPr lang="en-US" sz="1400" dirty="0"/>
          </a:p>
        </p:txBody>
      </p:sp>
      <p:sp>
        <p:nvSpPr>
          <p:cNvPr id="16" name="stagedesc-12"/>
          <p:cNvSpPr txBox="1"/>
          <p:nvPr/>
        </p:nvSpPr>
        <p:spPr>
          <a:xfrm>
            <a:off x="3255264" y="2697480"/>
            <a:ext cx="1234440" cy="594360"/>
          </a:xfrm>
          <a:prstGeom prst="rect">
            <a:avLst/>
          </a:prstGeom>
          <a:noFill/>
          <a:ln/>
        </p:spPr>
        <p:txBody>
          <a:bodyPr wrap="square" lIns="0" tIns="0" rIns="0" bIns="0" rtlCol="0" anchor="t"/>
          <a:lstStyle/>
          <a:p>
            <a:pPr algn="ctr" indent="0" marL="0">
              <a:buNone/>
            </a:pPr>
            <a:r>
              <a:rPr lang="en-US" sz="1100" dirty="0">
                <a:solidFill>
                  <a:schemeClr val="tx1"/>
                </a:solidFill>
              </a:rPr>
              <a:t>Quá hạn → DMS kích hoạt</a:t>
            </a:r>
            <a:endParaRPr lang="en-US" sz="1100" dirty="0"/>
          </a:p>
        </p:txBody>
      </p:sp>
      <p:sp>
        <p:nvSpPr>
          <p:cNvPr id="17" name="badge-13"/>
          <p:cNvSpPr/>
          <p:nvPr/>
        </p:nvSpPr>
        <p:spPr>
          <a:xfrm>
            <a:off x="4905756" y="1508760"/>
            <a:ext cx="731520" cy="731520"/>
          </a:xfrm>
          <a:prstGeom prst="ellipse">
            <a:avLst/>
          </a:prstGeom>
          <a:solidFill>
            <a:schemeClr val="accent1"/>
          </a:solidFill>
          <a:ln w="12700">
            <a:solidFill>
              <a:schemeClr val="accent1"/>
            </a:solidFill>
            <a:prstDash val="solid"/>
          </a:ln>
        </p:spPr>
      </p:sp>
      <p:pic>
        <p:nvPicPr>
          <p:cNvPr id="18" name="icon-14" descr="icon">    </p:cNvPr>
          <p:cNvPicPr>
            <a:picLocks noChangeAspect="1"/>
          </p:cNvPicPr>
          <p:nvPr/>
        </p:nvPicPr>
        <p:blipFill>
          <a:blip r:embed="rId4"/>
          <a:stretch>
            <a:fillRect/>
          </a:stretch>
        </p:blipFill>
        <p:spPr>
          <a:xfrm>
            <a:off x="5052060" y="1655064"/>
            <a:ext cx="438912" cy="438912"/>
          </a:xfrm>
          <a:prstGeom prst="rect">
            <a:avLst/>
          </a:prstGeom>
        </p:spPr>
      </p:pic>
      <p:sp>
        <p:nvSpPr>
          <p:cNvPr id="19" name="stage-15"/>
          <p:cNvSpPr txBox="1"/>
          <p:nvPr/>
        </p:nvSpPr>
        <p:spPr>
          <a:xfrm>
            <a:off x="4654296" y="2377440"/>
            <a:ext cx="1234440" cy="320040"/>
          </a:xfrm>
          <a:prstGeom prst="rect">
            <a:avLst/>
          </a:prstGeom>
          <a:noFill/>
          <a:ln/>
        </p:spPr>
        <p:txBody>
          <a:bodyPr wrap="square" lIns="0" tIns="0" rIns="0" bIns="0" rtlCol="0" anchor="ctr"/>
          <a:lstStyle/>
          <a:p>
            <a:pPr algn="ctr" indent="0" marL="0">
              <a:buNone/>
            </a:pPr>
            <a:r>
              <a:rPr lang="en-US" sz="1400" b="1" dirty="0">
                <a:solidFill>
                  <a:schemeClr val="tx2"/>
                </a:solidFill>
              </a:rPr>
              <a:t>Xác minh</a:t>
            </a:r>
            <a:endParaRPr lang="en-US" sz="1400" dirty="0"/>
          </a:p>
        </p:txBody>
      </p:sp>
      <p:sp>
        <p:nvSpPr>
          <p:cNvPr id="20" name="stagedesc-16"/>
          <p:cNvSpPr txBox="1"/>
          <p:nvPr/>
        </p:nvSpPr>
        <p:spPr>
          <a:xfrm>
            <a:off x="4654296" y="2697480"/>
            <a:ext cx="1234440" cy="594360"/>
          </a:xfrm>
          <a:prstGeom prst="rect">
            <a:avLst/>
          </a:prstGeom>
          <a:noFill/>
          <a:ln/>
        </p:spPr>
        <p:txBody>
          <a:bodyPr wrap="square" lIns="0" tIns="0" rIns="0" bIns="0" rtlCol="0" anchor="t"/>
          <a:lstStyle/>
          <a:p>
            <a:pPr algn="ctr" indent="0" marL="0">
              <a:buNone/>
            </a:pPr>
            <a:r>
              <a:rPr lang="en-US" sz="1100" dirty="0">
                <a:solidFill>
                  <a:schemeClr val="tx1"/>
                </a:solidFill>
              </a:rPr>
              <a:t>Executor nộp, luật sư duyệt &amp; ký</a:t>
            </a:r>
            <a:endParaRPr lang="en-US" sz="1100" dirty="0"/>
          </a:p>
        </p:txBody>
      </p:sp>
      <p:sp>
        <p:nvSpPr>
          <p:cNvPr id="21" name="badge-17"/>
          <p:cNvSpPr/>
          <p:nvPr/>
        </p:nvSpPr>
        <p:spPr>
          <a:xfrm>
            <a:off x="6304788" y="1508760"/>
            <a:ext cx="731520" cy="731520"/>
          </a:xfrm>
          <a:prstGeom prst="ellipse">
            <a:avLst/>
          </a:prstGeom>
          <a:solidFill>
            <a:schemeClr val="accent3"/>
          </a:solidFill>
          <a:ln w="12700">
            <a:solidFill>
              <a:schemeClr val="accent3"/>
            </a:solidFill>
            <a:prstDash val="solid"/>
          </a:ln>
        </p:spPr>
      </p:sp>
      <p:pic>
        <p:nvPicPr>
          <p:cNvPr id="22" name="icon-18" descr="icon">    </p:cNvPr>
          <p:cNvPicPr>
            <a:picLocks noChangeAspect="1"/>
          </p:cNvPicPr>
          <p:nvPr/>
        </p:nvPicPr>
        <p:blipFill>
          <a:blip r:embed="rId5"/>
          <a:stretch>
            <a:fillRect/>
          </a:stretch>
        </p:blipFill>
        <p:spPr>
          <a:xfrm>
            <a:off x="6451092" y="1655064"/>
            <a:ext cx="438912" cy="438912"/>
          </a:xfrm>
          <a:prstGeom prst="rect">
            <a:avLst/>
          </a:prstGeom>
        </p:spPr>
      </p:pic>
      <p:sp>
        <p:nvSpPr>
          <p:cNvPr id="23" name="stage-19"/>
          <p:cNvSpPr txBox="1"/>
          <p:nvPr/>
        </p:nvSpPr>
        <p:spPr>
          <a:xfrm>
            <a:off x="6053328" y="2377440"/>
            <a:ext cx="1234440" cy="320040"/>
          </a:xfrm>
          <a:prstGeom prst="rect">
            <a:avLst/>
          </a:prstGeom>
          <a:noFill/>
          <a:ln/>
        </p:spPr>
        <p:txBody>
          <a:bodyPr wrap="square" lIns="0" tIns="0" rIns="0" bIns="0" rtlCol="0" anchor="ctr"/>
          <a:lstStyle/>
          <a:p>
            <a:pPr algn="ctr" indent="0" marL="0">
              <a:buNone/>
            </a:pPr>
            <a:r>
              <a:rPr lang="en-US" sz="1400" b="1" dirty="0">
                <a:solidFill>
                  <a:schemeClr val="tx2"/>
                </a:solidFill>
              </a:rPr>
              <a:t>Bàn giao</a:t>
            </a:r>
            <a:endParaRPr lang="en-US" sz="1400" dirty="0"/>
          </a:p>
        </p:txBody>
      </p:sp>
      <p:sp>
        <p:nvSpPr>
          <p:cNvPr id="24" name="stagedesc-20"/>
          <p:cNvSpPr txBox="1"/>
          <p:nvPr/>
        </p:nvSpPr>
        <p:spPr>
          <a:xfrm>
            <a:off x="6053328" y="2697480"/>
            <a:ext cx="1234440" cy="594360"/>
          </a:xfrm>
          <a:prstGeom prst="rect">
            <a:avLst/>
          </a:prstGeom>
          <a:noFill/>
          <a:ln/>
        </p:spPr>
        <p:txBody>
          <a:bodyPr wrap="square" lIns="0" tIns="0" rIns="0" bIns="0" rtlCol="0" anchor="t"/>
          <a:lstStyle/>
          <a:p>
            <a:pPr algn="ctr" indent="0" marL="0">
              <a:buNone/>
            </a:pPr>
            <a:r>
              <a:rPr lang="en-US" sz="1100" dirty="0">
                <a:solidFill>
                  <a:schemeClr val="tx1"/>
                </a:solidFill>
              </a:rPr>
              <a:t>Người thụ hưởng xác minh, nhận</a:t>
            </a:r>
            <a:endParaRPr lang="en-US" sz="1100" dirty="0"/>
          </a:p>
        </p:txBody>
      </p:sp>
      <p:sp>
        <p:nvSpPr>
          <p:cNvPr id="25" name="badge-21"/>
          <p:cNvSpPr/>
          <p:nvPr/>
        </p:nvSpPr>
        <p:spPr>
          <a:xfrm>
            <a:off x="7703820" y="1508760"/>
            <a:ext cx="731520" cy="731520"/>
          </a:xfrm>
          <a:prstGeom prst="ellipse">
            <a:avLst/>
          </a:prstGeom>
          <a:solidFill>
            <a:schemeClr val="accent5"/>
          </a:solidFill>
          <a:ln w="12700">
            <a:solidFill>
              <a:schemeClr val="accent5"/>
            </a:solidFill>
            <a:prstDash val="solid"/>
          </a:ln>
        </p:spPr>
      </p:sp>
      <p:pic>
        <p:nvPicPr>
          <p:cNvPr id="26" name="icon-22" descr="icon">    </p:cNvPr>
          <p:cNvPicPr>
            <a:picLocks noChangeAspect="1"/>
          </p:cNvPicPr>
          <p:nvPr/>
        </p:nvPicPr>
        <p:blipFill>
          <a:blip r:embed="rId6"/>
          <a:stretch>
            <a:fillRect/>
          </a:stretch>
        </p:blipFill>
        <p:spPr>
          <a:xfrm>
            <a:off x="7850124" y="1655064"/>
            <a:ext cx="438912" cy="438912"/>
          </a:xfrm>
          <a:prstGeom prst="rect">
            <a:avLst/>
          </a:prstGeom>
        </p:spPr>
      </p:pic>
      <p:sp>
        <p:nvSpPr>
          <p:cNvPr id="27" name="stage-23"/>
          <p:cNvSpPr txBox="1"/>
          <p:nvPr/>
        </p:nvSpPr>
        <p:spPr>
          <a:xfrm>
            <a:off x="7452360" y="2377440"/>
            <a:ext cx="1234440" cy="320040"/>
          </a:xfrm>
          <a:prstGeom prst="rect">
            <a:avLst/>
          </a:prstGeom>
          <a:noFill/>
          <a:ln/>
        </p:spPr>
        <p:txBody>
          <a:bodyPr wrap="square" lIns="0" tIns="0" rIns="0" bIns="0" rtlCol="0" anchor="ctr"/>
          <a:lstStyle/>
          <a:p>
            <a:pPr algn="ctr" indent="0" marL="0">
              <a:buNone/>
            </a:pPr>
            <a:r>
              <a:rPr lang="en-US" sz="1400" b="1" dirty="0">
                <a:solidFill>
                  <a:schemeClr val="tx2"/>
                </a:solidFill>
              </a:rPr>
              <a:t>Kết thúc</a:t>
            </a:r>
            <a:endParaRPr lang="en-US" sz="1400" dirty="0"/>
          </a:p>
        </p:txBody>
      </p:sp>
      <p:sp>
        <p:nvSpPr>
          <p:cNvPr id="28" name="stagedesc-24"/>
          <p:cNvSpPr txBox="1"/>
          <p:nvPr/>
        </p:nvSpPr>
        <p:spPr>
          <a:xfrm>
            <a:off x="7452360" y="2697480"/>
            <a:ext cx="1234440" cy="594360"/>
          </a:xfrm>
          <a:prstGeom prst="rect">
            <a:avLst/>
          </a:prstGeom>
          <a:noFill/>
          <a:ln/>
        </p:spPr>
        <p:txBody>
          <a:bodyPr wrap="square" lIns="0" tIns="0" rIns="0" bIns="0" rtlCol="0" anchor="t"/>
          <a:lstStyle/>
          <a:p>
            <a:pPr algn="ctr" indent="0" marL="0">
              <a:buNone/>
            </a:pPr>
            <a:r>
              <a:rPr lang="en-US" sz="1100" dirty="0">
                <a:solidFill>
                  <a:schemeClr val="tx1"/>
                </a:solidFill>
              </a:rPr>
              <a:t>Đóng vault, lưu trữ, xoá</a:t>
            </a:r>
            <a:endParaRPr lang="en-US" sz="1100" dirty="0"/>
          </a:p>
        </p:txBody>
      </p:sp>
      <p:sp>
        <p:nvSpPr>
          <p:cNvPr id="29" name="roleslabel"/>
          <p:cNvSpPr txBox="1"/>
          <p:nvPr/>
        </p:nvSpPr>
        <p:spPr>
          <a:xfrm>
            <a:off x="457200" y="3703320"/>
            <a:ext cx="1645920" cy="365760"/>
          </a:xfrm>
          <a:prstGeom prst="rect">
            <a:avLst/>
          </a:prstGeom>
          <a:noFill/>
          <a:ln/>
        </p:spPr>
        <p:txBody>
          <a:bodyPr wrap="square" lIns="0" tIns="0" rIns="0" bIns="0" rtlCol="0" anchor="ctr"/>
          <a:lstStyle/>
          <a:p>
            <a:pPr indent="0" marL="0">
              <a:buNone/>
            </a:pPr>
            <a:r>
              <a:rPr lang="en-US" sz="1200" b="1" dirty="0">
                <a:solidFill>
                  <a:schemeClr val="tx2"/>
                </a:solidFill>
              </a:rPr>
              <a:t>5 vai trò tham gia:</a:t>
            </a:r>
            <a:endParaRPr lang="en-US" sz="1200" dirty="0"/>
          </a:p>
        </p:txBody>
      </p:sp>
      <p:sp>
        <p:nvSpPr>
          <p:cNvPr id="30" name="role-25"/>
          <p:cNvSpPr/>
          <p:nvPr/>
        </p:nvSpPr>
        <p:spPr>
          <a:xfrm>
            <a:off x="2103120" y="3703320"/>
            <a:ext cx="1207008" cy="365760"/>
          </a:xfrm>
          <a:prstGeom prst="roundRect">
            <a:avLst>
              <a:gd name="adj" fmla="val 50000"/>
            </a:avLst>
          </a:prstGeom>
          <a:solidFill>
            <a:schemeClr val="accent1"/>
          </a:solidFill>
          <a:ln w="12700">
            <a:solidFill>
              <a:schemeClr val="accent1"/>
            </a:solidFill>
            <a:prstDash val="solid"/>
          </a:ln>
        </p:spPr>
      </p:sp>
      <p:sp>
        <p:nvSpPr>
          <p:cNvPr id="31" name="roletxt-26"/>
          <p:cNvSpPr txBox="1"/>
          <p:nvPr/>
        </p:nvSpPr>
        <p:spPr>
          <a:xfrm>
            <a:off x="2103120" y="3703320"/>
            <a:ext cx="1207008" cy="365760"/>
          </a:xfrm>
          <a:prstGeom prst="rect">
            <a:avLst/>
          </a:prstGeom>
          <a:noFill/>
          <a:ln/>
        </p:spPr>
        <p:txBody>
          <a:bodyPr wrap="square" lIns="0" tIns="0" rIns="0" bIns="0" rtlCol="0" anchor="ctr"/>
          <a:lstStyle/>
          <a:p>
            <a:pPr algn="ctr" indent="0" marL="0">
              <a:buNone/>
            </a:pPr>
            <a:r>
              <a:rPr lang="en-US" sz="1100" b="1" dirty="0">
                <a:solidFill>
                  <a:schemeClr val="bg1"/>
                </a:solidFill>
              </a:rPr>
              <a:t>Owner</a:t>
            </a:r>
            <a:endParaRPr lang="en-US" sz="1100" dirty="0"/>
          </a:p>
        </p:txBody>
      </p:sp>
      <p:sp>
        <p:nvSpPr>
          <p:cNvPr id="32" name="role-27"/>
          <p:cNvSpPr/>
          <p:nvPr/>
        </p:nvSpPr>
        <p:spPr>
          <a:xfrm>
            <a:off x="3419856" y="3703320"/>
            <a:ext cx="1207008" cy="365760"/>
          </a:xfrm>
          <a:prstGeom prst="roundRect">
            <a:avLst>
              <a:gd name="adj" fmla="val 50000"/>
            </a:avLst>
          </a:prstGeom>
          <a:solidFill>
            <a:schemeClr val="accent2"/>
          </a:solidFill>
          <a:ln w="12700">
            <a:solidFill>
              <a:schemeClr val="accent2"/>
            </a:solidFill>
            <a:prstDash val="solid"/>
          </a:ln>
        </p:spPr>
      </p:sp>
      <p:sp>
        <p:nvSpPr>
          <p:cNvPr id="33" name="roletxt-28"/>
          <p:cNvSpPr txBox="1"/>
          <p:nvPr/>
        </p:nvSpPr>
        <p:spPr>
          <a:xfrm>
            <a:off x="3419856" y="3703320"/>
            <a:ext cx="1207008" cy="365760"/>
          </a:xfrm>
          <a:prstGeom prst="rect">
            <a:avLst/>
          </a:prstGeom>
          <a:noFill/>
          <a:ln/>
        </p:spPr>
        <p:txBody>
          <a:bodyPr wrap="square" lIns="0" tIns="0" rIns="0" bIns="0" rtlCol="0" anchor="ctr"/>
          <a:lstStyle/>
          <a:p>
            <a:pPr algn="ctr" indent="0" marL="0">
              <a:buNone/>
            </a:pPr>
            <a:r>
              <a:rPr lang="en-US" sz="1100" b="1" dirty="0">
                <a:solidFill>
                  <a:schemeClr val="bg1"/>
                </a:solidFill>
              </a:rPr>
              <a:t>Executor</a:t>
            </a:r>
            <a:endParaRPr lang="en-US" sz="1100" dirty="0"/>
          </a:p>
        </p:txBody>
      </p:sp>
      <p:sp>
        <p:nvSpPr>
          <p:cNvPr id="34" name="role-29"/>
          <p:cNvSpPr/>
          <p:nvPr/>
        </p:nvSpPr>
        <p:spPr>
          <a:xfrm>
            <a:off x="4736592" y="3703320"/>
            <a:ext cx="1207008" cy="365760"/>
          </a:xfrm>
          <a:prstGeom prst="roundRect">
            <a:avLst>
              <a:gd name="adj" fmla="val 50000"/>
            </a:avLst>
          </a:prstGeom>
          <a:solidFill>
            <a:schemeClr val="accent3"/>
          </a:solidFill>
          <a:ln w="12700">
            <a:solidFill>
              <a:schemeClr val="accent3"/>
            </a:solidFill>
            <a:prstDash val="solid"/>
          </a:ln>
        </p:spPr>
      </p:sp>
      <p:sp>
        <p:nvSpPr>
          <p:cNvPr id="35" name="roletxt-30"/>
          <p:cNvSpPr txBox="1"/>
          <p:nvPr/>
        </p:nvSpPr>
        <p:spPr>
          <a:xfrm>
            <a:off x="4736592" y="3703320"/>
            <a:ext cx="1207008" cy="365760"/>
          </a:xfrm>
          <a:prstGeom prst="rect">
            <a:avLst/>
          </a:prstGeom>
          <a:noFill/>
          <a:ln/>
        </p:spPr>
        <p:txBody>
          <a:bodyPr wrap="square" lIns="0" tIns="0" rIns="0" bIns="0" rtlCol="0" anchor="ctr"/>
          <a:lstStyle/>
          <a:p>
            <a:pPr algn="ctr" indent="0" marL="0">
              <a:buNone/>
            </a:pPr>
            <a:r>
              <a:rPr lang="en-US" sz="1100" b="1" dirty="0">
                <a:solidFill>
                  <a:schemeClr val="bg1"/>
                </a:solidFill>
              </a:rPr>
              <a:t>Legal Verifier</a:t>
            </a:r>
            <a:endParaRPr lang="en-US" sz="1100" dirty="0"/>
          </a:p>
        </p:txBody>
      </p:sp>
      <p:sp>
        <p:nvSpPr>
          <p:cNvPr id="36" name="role-31"/>
          <p:cNvSpPr/>
          <p:nvPr/>
        </p:nvSpPr>
        <p:spPr>
          <a:xfrm>
            <a:off x="6053328" y="3703320"/>
            <a:ext cx="1207008" cy="365760"/>
          </a:xfrm>
          <a:prstGeom prst="roundRect">
            <a:avLst>
              <a:gd name="adj" fmla="val 50000"/>
            </a:avLst>
          </a:prstGeom>
          <a:solidFill>
            <a:schemeClr val="accent4"/>
          </a:solidFill>
          <a:ln w="12700">
            <a:solidFill>
              <a:schemeClr val="accent4"/>
            </a:solidFill>
            <a:prstDash val="solid"/>
          </a:ln>
        </p:spPr>
      </p:sp>
      <p:sp>
        <p:nvSpPr>
          <p:cNvPr id="37" name="roletxt-32"/>
          <p:cNvSpPr txBox="1"/>
          <p:nvPr/>
        </p:nvSpPr>
        <p:spPr>
          <a:xfrm>
            <a:off x="6053328" y="3703320"/>
            <a:ext cx="1207008" cy="365760"/>
          </a:xfrm>
          <a:prstGeom prst="rect">
            <a:avLst/>
          </a:prstGeom>
          <a:noFill/>
          <a:ln/>
        </p:spPr>
        <p:txBody>
          <a:bodyPr wrap="square" lIns="0" tIns="0" rIns="0" bIns="0" rtlCol="0" anchor="ctr"/>
          <a:lstStyle/>
          <a:p>
            <a:pPr algn="ctr" indent="0" marL="0">
              <a:buNone/>
            </a:pPr>
            <a:r>
              <a:rPr lang="en-US" sz="1100" b="1" dirty="0">
                <a:solidFill>
                  <a:schemeClr val="bg1"/>
                </a:solidFill>
              </a:rPr>
              <a:t>Beneficiary</a:t>
            </a:r>
            <a:endParaRPr lang="en-US" sz="1100" dirty="0"/>
          </a:p>
        </p:txBody>
      </p:sp>
      <p:sp>
        <p:nvSpPr>
          <p:cNvPr id="38" name="role-33"/>
          <p:cNvSpPr/>
          <p:nvPr/>
        </p:nvSpPr>
        <p:spPr>
          <a:xfrm>
            <a:off x="7370064" y="3703320"/>
            <a:ext cx="1207008" cy="365760"/>
          </a:xfrm>
          <a:prstGeom prst="roundRect">
            <a:avLst>
              <a:gd name="adj" fmla="val 50000"/>
            </a:avLst>
          </a:prstGeom>
          <a:solidFill>
            <a:schemeClr val="accent5"/>
          </a:solidFill>
          <a:ln w="12700">
            <a:solidFill>
              <a:schemeClr val="accent5"/>
            </a:solidFill>
            <a:prstDash val="solid"/>
          </a:ln>
        </p:spPr>
      </p:sp>
      <p:sp>
        <p:nvSpPr>
          <p:cNvPr id="39" name="roletxt-34"/>
          <p:cNvSpPr txBox="1"/>
          <p:nvPr/>
        </p:nvSpPr>
        <p:spPr>
          <a:xfrm>
            <a:off x="7370064" y="3703320"/>
            <a:ext cx="1207008" cy="365760"/>
          </a:xfrm>
          <a:prstGeom prst="rect">
            <a:avLst/>
          </a:prstGeom>
          <a:noFill/>
          <a:ln/>
        </p:spPr>
        <p:txBody>
          <a:bodyPr wrap="square" lIns="0" tIns="0" rIns="0" bIns="0" rtlCol="0" anchor="ctr"/>
          <a:lstStyle/>
          <a:p>
            <a:pPr algn="ctr" indent="0" marL="0">
              <a:buNone/>
            </a:pPr>
            <a:r>
              <a:rPr lang="en-US" sz="1100" b="1" dirty="0">
                <a:solidFill>
                  <a:schemeClr val="bg1"/>
                </a:solidFill>
              </a:rPr>
              <a:t>Admin</a:t>
            </a:r>
            <a:endParaRPr lang="en-US" sz="1100" dirty="0"/>
          </a:p>
        </p:txBody>
      </p:sp>
      <p:sp>
        <p:nvSpPr>
          <p:cNvPr id="40" name="rolenote"/>
          <p:cNvSpPr txBox="1"/>
          <p:nvPr/>
        </p:nvSpPr>
        <p:spPr>
          <a:xfrm>
            <a:off x="457200" y="4206240"/>
            <a:ext cx="8229600" cy="365760"/>
          </a:xfrm>
          <a:prstGeom prst="rect">
            <a:avLst/>
          </a:prstGeom>
          <a:noFill/>
          <a:ln/>
        </p:spPr>
        <p:txBody>
          <a:bodyPr wrap="square" lIns="0" tIns="0" rIns="0" bIns="0" rtlCol="0" anchor="ctr"/>
          <a:lstStyle/>
          <a:p>
            <a:pPr indent="0" marL="0">
              <a:buNone/>
            </a:pPr>
            <a:r>
              <a:rPr lang="en-US" sz="1100" i="1" dirty="0">
                <a:solidFill>
                  <a:schemeClr val="accent5"/>
                </a:solidFill>
              </a:rPr>
              <a:t>Một người có thể giữ nhiều vai trò, trừ khi xung đột lợi ích (Executor ≠ Beneficiary ≠ Verifier của cùng một Owner).</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498080" cy="566928"/>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Luồng 1 · Tham gia hệ thống</a:t>
            </a:r>
            <a:endParaRPr lang="en-US" sz="2800" dirty="0"/>
          </a:p>
        </p:txBody>
      </p:sp>
      <p:sp>
        <p:nvSpPr>
          <p:cNvPr id="3" name="Text 0"/>
          <p:cNvSpPr/>
          <p:nvPr>
            <p:ph idx="101" type="body" hasCustomPrompt="1"/>
          </p:nvPr>
        </p:nvSpPr>
        <p:spPr>
          <a:xfrm>
            <a:off x="457200" y="804672"/>
            <a:ext cx="7498080" cy="365760"/>
          </a:xfrm>
          <a:prstGeom prst="rect">
            <a:avLst/>
          </a:prstGeom>
          <a:noFill/>
          <a:ln/>
        </p:spPr>
        <p:txBody>
          <a:bodyPr wrap="square" lIns="0" tIns="0" rIns="0" bIns="0" rtlCol="0" anchor="t"/>
          <a:lstStyle/>
          <a:p>
            <a:pPr algn="l" indent="0" marL="0">
              <a:buNone/>
            </a:pPr>
            <a:r>
              <a:rPr lang="en-US" sz="1400" dirty="0">
                <a:solidFill>
                  <a:schemeClr val="accent5"/>
                </a:solidFill>
                <a:latin typeface="Calibri" pitchFamily="34" charset="0"/>
                <a:ea typeface="Calibri" pitchFamily="34" charset="-122"/>
                <a:cs typeface="Calibri" pitchFamily="34" charset="-120"/>
              </a:rPr>
              <a:t>Tài khoản chỉ dùng được sau khi xác thực email</a:t>
            </a:r>
            <a:endParaRPr lang="en-US" sz="1400" dirty="0"/>
          </a:p>
        </p:txBody>
      </p:sp>
      <p:sp>
        <p:nvSpPr>
          <p:cNvPr id="4" name="badge-35"/>
          <p:cNvSpPr/>
          <p:nvPr/>
        </p:nvSpPr>
        <p:spPr>
          <a:xfrm>
            <a:off x="8092440" y="274320"/>
            <a:ext cx="548640" cy="548640"/>
          </a:xfrm>
          <a:prstGeom prst="ellipse">
            <a:avLst/>
          </a:prstGeom>
          <a:solidFill>
            <a:schemeClr val="accent1"/>
          </a:solidFill>
          <a:ln w="12700">
            <a:solidFill>
              <a:schemeClr val="accent1"/>
            </a:solidFill>
            <a:prstDash val="solid"/>
          </a:ln>
        </p:spPr>
      </p:sp>
      <p:pic>
        <p:nvPicPr>
          <p:cNvPr id="5" name="icon-36" descr="icon">    </p:cNvPr>
          <p:cNvPicPr>
            <a:picLocks noChangeAspect="1"/>
          </p:cNvPicPr>
          <p:nvPr/>
        </p:nvPicPr>
        <p:blipFill>
          <a:blip r:embed="rId1"/>
          <a:stretch>
            <a:fillRect/>
          </a:stretch>
        </p:blipFill>
        <p:spPr>
          <a:xfrm>
            <a:off x="8202168" y="384048"/>
            <a:ext cx="329184" cy="329184"/>
          </a:xfrm>
          <a:prstGeom prst="rect">
            <a:avLst/>
          </a:prstGeom>
        </p:spPr>
      </p:pic>
      <p:sp>
        <p:nvSpPr>
          <p:cNvPr id="6" name="step-37"/>
          <p:cNvSpPr/>
          <p:nvPr/>
        </p:nvSpPr>
        <p:spPr>
          <a:xfrm>
            <a:off x="457200" y="1325880"/>
            <a:ext cx="1865376" cy="1554480"/>
          </a:xfrm>
          <a:prstGeom prst="roundRect">
            <a:avLst>
              <a:gd name="adj" fmla="val 4706"/>
            </a:avLst>
          </a:prstGeom>
          <a:solidFill>
            <a:schemeClr val="bg2"/>
          </a:solidFill>
          <a:ln w="12700">
            <a:solidFill>
              <a:schemeClr val="bg2"/>
            </a:solidFill>
            <a:prstDash val="solid"/>
          </a:ln>
        </p:spPr>
      </p:sp>
      <p:sp>
        <p:nvSpPr>
          <p:cNvPr id="7" name="num-38"/>
          <p:cNvSpPr/>
          <p:nvPr/>
        </p:nvSpPr>
        <p:spPr>
          <a:xfrm>
            <a:off x="566928" y="1435608"/>
            <a:ext cx="329184" cy="329184"/>
          </a:xfrm>
          <a:prstGeom prst="ellipse">
            <a:avLst/>
          </a:prstGeom>
          <a:solidFill>
            <a:schemeClr val="accent1"/>
          </a:solidFill>
          <a:ln w="12700">
            <a:solidFill>
              <a:schemeClr val="accent1"/>
            </a:solidFill>
            <a:prstDash val="solid"/>
          </a:ln>
        </p:spPr>
      </p:sp>
      <p:sp>
        <p:nvSpPr>
          <p:cNvPr id="8" name="numtxt-39"/>
          <p:cNvSpPr txBox="1"/>
          <p:nvPr/>
        </p:nvSpPr>
        <p:spPr>
          <a:xfrm>
            <a:off x="566928" y="143560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9" name="steptitle-40"/>
          <p:cNvSpPr txBox="1"/>
          <p:nvPr/>
        </p:nvSpPr>
        <p:spPr>
          <a:xfrm>
            <a:off x="566928" y="1819656"/>
            <a:ext cx="1645920" cy="310896"/>
          </a:xfrm>
          <a:prstGeom prst="rect">
            <a:avLst/>
          </a:prstGeom>
          <a:noFill/>
          <a:ln/>
        </p:spPr>
        <p:txBody>
          <a:bodyPr wrap="square" lIns="0" tIns="0" rIns="0" bIns="0" rtlCol="0" anchor="t"/>
          <a:lstStyle/>
          <a:p>
            <a:pPr indent="0" marL="0">
              <a:buNone/>
            </a:pPr>
            <a:r>
              <a:rPr lang="en-US" sz="1300" b="1" dirty="0">
                <a:solidFill>
                  <a:schemeClr val="tx2"/>
                </a:solidFill>
              </a:rPr>
              <a:t>Đăng ký</a:t>
            </a:r>
            <a:endParaRPr lang="en-US" sz="1300" dirty="0"/>
          </a:p>
        </p:txBody>
      </p:sp>
      <p:sp>
        <p:nvSpPr>
          <p:cNvPr id="10" name="stepdesc-41"/>
          <p:cNvSpPr txBox="1"/>
          <p:nvPr/>
        </p:nvSpPr>
        <p:spPr>
          <a:xfrm>
            <a:off x="566928" y="2130552"/>
            <a:ext cx="1645920" cy="685800"/>
          </a:xfrm>
          <a:prstGeom prst="rect">
            <a:avLst/>
          </a:prstGeom>
          <a:noFill/>
          <a:ln/>
        </p:spPr>
        <p:txBody>
          <a:bodyPr wrap="square" lIns="0" tIns="0" rIns="0" bIns="0" rtlCol="0" anchor="t"/>
          <a:lstStyle/>
          <a:p>
            <a:pPr indent="0" marL="0">
              <a:buNone/>
            </a:pPr>
            <a:r>
              <a:rPr lang="en-US" sz="1050" dirty="0">
                <a:solidFill>
                  <a:schemeClr val="tx1"/>
                </a:solidFill>
              </a:rPr>
              <a:t>Mật khẩu 8–72 ký tự, đủ hoa / thường / số / ký hiệu, có thanh đo độ mạnh</a:t>
            </a:r>
            <a:endParaRPr lang="en-US" sz="1050" dirty="0"/>
          </a:p>
        </p:txBody>
      </p:sp>
      <p:sp>
        <p:nvSpPr>
          <p:cNvPr id="11" name="arrow-42"/>
          <p:cNvSpPr/>
          <p:nvPr/>
        </p:nvSpPr>
        <p:spPr>
          <a:xfrm>
            <a:off x="2377440" y="2011680"/>
            <a:ext cx="146304" cy="182880"/>
          </a:xfrm>
          <a:prstGeom prst="chevron">
            <a:avLst/>
          </a:prstGeom>
          <a:solidFill>
            <a:schemeClr val="accent2"/>
          </a:solidFill>
          <a:ln w="12700">
            <a:solidFill>
              <a:schemeClr val="accent2"/>
            </a:solidFill>
            <a:prstDash val="solid"/>
          </a:ln>
        </p:spPr>
      </p:sp>
      <p:sp>
        <p:nvSpPr>
          <p:cNvPr id="12" name="step-43"/>
          <p:cNvSpPr/>
          <p:nvPr/>
        </p:nvSpPr>
        <p:spPr>
          <a:xfrm>
            <a:off x="2578608" y="1325880"/>
            <a:ext cx="1865376" cy="1554480"/>
          </a:xfrm>
          <a:prstGeom prst="roundRect">
            <a:avLst>
              <a:gd name="adj" fmla="val 4706"/>
            </a:avLst>
          </a:prstGeom>
          <a:solidFill>
            <a:schemeClr val="bg2"/>
          </a:solidFill>
          <a:ln w="12700">
            <a:solidFill>
              <a:schemeClr val="bg2"/>
            </a:solidFill>
            <a:prstDash val="solid"/>
          </a:ln>
        </p:spPr>
      </p:sp>
      <p:sp>
        <p:nvSpPr>
          <p:cNvPr id="13" name="num-44"/>
          <p:cNvSpPr/>
          <p:nvPr/>
        </p:nvSpPr>
        <p:spPr>
          <a:xfrm>
            <a:off x="2688336" y="1435608"/>
            <a:ext cx="329184" cy="329184"/>
          </a:xfrm>
          <a:prstGeom prst="ellipse">
            <a:avLst/>
          </a:prstGeom>
          <a:solidFill>
            <a:schemeClr val="accent1"/>
          </a:solidFill>
          <a:ln w="12700">
            <a:solidFill>
              <a:schemeClr val="accent1"/>
            </a:solidFill>
            <a:prstDash val="solid"/>
          </a:ln>
        </p:spPr>
      </p:sp>
      <p:sp>
        <p:nvSpPr>
          <p:cNvPr id="14" name="numtxt-45"/>
          <p:cNvSpPr txBox="1"/>
          <p:nvPr/>
        </p:nvSpPr>
        <p:spPr>
          <a:xfrm>
            <a:off x="2688336" y="143560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5" name="steptitle-46"/>
          <p:cNvSpPr txBox="1"/>
          <p:nvPr/>
        </p:nvSpPr>
        <p:spPr>
          <a:xfrm>
            <a:off x="2688336" y="1819656"/>
            <a:ext cx="1645920" cy="310896"/>
          </a:xfrm>
          <a:prstGeom prst="rect">
            <a:avLst/>
          </a:prstGeom>
          <a:noFill/>
          <a:ln/>
        </p:spPr>
        <p:txBody>
          <a:bodyPr wrap="square" lIns="0" tIns="0" rIns="0" bIns="0" rtlCol="0" anchor="t"/>
          <a:lstStyle/>
          <a:p>
            <a:pPr indent="0" marL="0">
              <a:buNone/>
            </a:pPr>
            <a:r>
              <a:rPr lang="en-US" sz="1300" b="1" dirty="0">
                <a:solidFill>
                  <a:schemeClr val="tx2"/>
                </a:solidFill>
              </a:rPr>
              <a:t>Xác thực email</a:t>
            </a:r>
            <a:endParaRPr lang="en-US" sz="1300" dirty="0"/>
          </a:p>
        </p:txBody>
      </p:sp>
      <p:sp>
        <p:nvSpPr>
          <p:cNvPr id="16" name="stepdesc-47"/>
          <p:cNvSpPr txBox="1"/>
          <p:nvPr/>
        </p:nvSpPr>
        <p:spPr>
          <a:xfrm>
            <a:off x="2688336" y="2130552"/>
            <a:ext cx="1645920" cy="685800"/>
          </a:xfrm>
          <a:prstGeom prst="rect">
            <a:avLst/>
          </a:prstGeom>
          <a:noFill/>
          <a:ln/>
        </p:spPr>
        <p:txBody>
          <a:bodyPr wrap="square" lIns="0" tIns="0" rIns="0" bIns="0" rtlCol="0" anchor="t"/>
          <a:lstStyle/>
          <a:p>
            <a:pPr indent="0" marL="0">
              <a:buNone/>
            </a:pPr>
            <a:r>
              <a:rPr lang="en-US" sz="1050" dirty="0">
                <a:solidFill>
                  <a:schemeClr val="tx1"/>
                </a:solidFill>
              </a:rPr>
              <a:t>Link một lần, có hạn. Vault đang chờ email này tự gắn cho người dùng</a:t>
            </a:r>
            <a:endParaRPr lang="en-US" sz="1050" dirty="0"/>
          </a:p>
        </p:txBody>
      </p:sp>
      <p:sp>
        <p:nvSpPr>
          <p:cNvPr id="17" name="arrow-48"/>
          <p:cNvSpPr/>
          <p:nvPr/>
        </p:nvSpPr>
        <p:spPr>
          <a:xfrm>
            <a:off x="4498848" y="2011680"/>
            <a:ext cx="146304" cy="182880"/>
          </a:xfrm>
          <a:prstGeom prst="chevron">
            <a:avLst/>
          </a:prstGeom>
          <a:solidFill>
            <a:schemeClr val="accent2"/>
          </a:solidFill>
          <a:ln w="12700">
            <a:solidFill>
              <a:schemeClr val="accent2"/>
            </a:solidFill>
            <a:prstDash val="solid"/>
          </a:ln>
        </p:spPr>
      </p:sp>
      <p:sp>
        <p:nvSpPr>
          <p:cNvPr id="18" name="step-49"/>
          <p:cNvSpPr/>
          <p:nvPr/>
        </p:nvSpPr>
        <p:spPr>
          <a:xfrm>
            <a:off x="4700016" y="1325880"/>
            <a:ext cx="1865376" cy="1554480"/>
          </a:xfrm>
          <a:prstGeom prst="roundRect">
            <a:avLst>
              <a:gd name="adj" fmla="val 4706"/>
            </a:avLst>
          </a:prstGeom>
          <a:solidFill>
            <a:schemeClr val="bg2"/>
          </a:solidFill>
          <a:ln w="12700">
            <a:solidFill>
              <a:schemeClr val="bg2"/>
            </a:solidFill>
            <a:prstDash val="solid"/>
          </a:ln>
        </p:spPr>
      </p:sp>
      <p:sp>
        <p:nvSpPr>
          <p:cNvPr id="19" name="num-50"/>
          <p:cNvSpPr/>
          <p:nvPr/>
        </p:nvSpPr>
        <p:spPr>
          <a:xfrm>
            <a:off x="4809744" y="1435608"/>
            <a:ext cx="329184" cy="329184"/>
          </a:xfrm>
          <a:prstGeom prst="ellipse">
            <a:avLst/>
          </a:prstGeom>
          <a:solidFill>
            <a:schemeClr val="accent1"/>
          </a:solidFill>
          <a:ln w="12700">
            <a:solidFill>
              <a:schemeClr val="accent1"/>
            </a:solidFill>
            <a:prstDash val="solid"/>
          </a:ln>
        </p:spPr>
      </p:sp>
      <p:sp>
        <p:nvSpPr>
          <p:cNvPr id="20" name="numtxt-51"/>
          <p:cNvSpPr txBox="1"/>
          <p:nvPr/>
        </p:nvSpPr>
        <p:spPr>
          <a:xfrm>
            <a:off x="4809744" y="143560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21" name="steptitle-52"/>
          <p:cNvSpPr txBox="1"/>
          <p:nvPr/>
        </p:nvSpPr>
        <p:spPr>
          <a:xfrm>
            <a:off x="4809744" y="1819656"/>
            <a:ext cx="1645920" cy="310896"/>
          </a:xfrm>
          <a:prstGeom prst="rect">
            <a:avLst/>
          </a:prstGeom>
          <a:noFill/>
          <a:ln/>
        </p:spPr>
        <p:txBody>
          <a:bodyPr wrap="square" lIns="0" tIns="0" rIns="0" bIns="0" rtlCol="0" anchor="t"/>
          <a:lstStyle/>
          <a:p>
            <a:pPr indent="0" marL="0">
              <a:buNone/>
            </a:pPr>
            <a:r>
              <a:rPr lang="en-US" sz="1300" b="1" dirty="0">
                <a:solidFill>
                  <a:schemeClr val="tx2"/>
                </a:solidFill>
              </a:rPr>
              <a:t>Đăng nhập</a:t>
            </a:r>
            <a:endParaRPr lang="en-US" sz="1300" dirty="0"/>
          </a:p>
        </p:txBody>
      </p:sp>
      <p:sp>
        <p:nvSpPr>
          <p:cNvPr id="22" name="stepdesc-53"/>
          <p:cNvSpPr txBox="1"/>
          <p:nvPr/>
        </p:nvSpPr>
        <p:spPr>
          <a:xfrm>
            <a:off x="4809744" y="2130552"/>
            <a:ext cx="1645920" cy="685800"/>
          </a:xfrm>
          <a:prstGeom prst="rect">
            <a:avLst/>
          </a:prstGeom>
          <a:noFill/>
          <a:ln/>
        </p:spPr>
        <p:txBody>
          <a:bodyPr wrap="square" lIns="0" tIns="0" rIns="0" bIns="0" rtlCol="0" anchor="t"/>
          <a:lstStyle/>
          <a:p>
            <a:pPr indent="0" marL="0">
              <a:buNone/>
            </a:pPr>
            <a:r>
              <a:rPr lang="en-US" sz="1050" dirty="0">
                <a:solidFill>
                  <a:schemeClr val="tx1"/>
                </a:solidFill>
              </a:rPr>
              <a:t>JWT ngắn hạn + refresh token xoay vòng, khoá tạm khi sai nhiều lần</a:t>
            </a:r>
            <a:endParaRPr lang="en-US" sz="1050" dirty="0"/>
          </a:p>
        </p:txBody>
      </p:sp>
      <p:sp>
        <p:nvSpPr>
          <p:cNvPr id="23" name="arrow-54"/>
          <p:cNvSpPr/>
          <p:nvPr/>
        </p:nvSpPr>
        <p:spPr>
          <a:xfrm>
            <a:off x="6620256" y="2011680"/>
            <a:ext cx="146304" cy="182880"/>
          </a:xfrm>
          <a:prstGeom prst="chevron">
            <a:avLst/>
          </a:prstGeom>
          <a:solidFill>
            <a:schemeClr val="accent2"/>
          </a:solidFill>
          <a:ln w="12700">
            <a:solidFill>
              <a:schemeClr val="accent2"/>
            </a:solidFill>
            <a:prstDash val="solid"/>
          </a:ln>
        </p:spPr>
      </p:sp>
      <p:sp>
        <p:nvSpPr>
          <p:cNvPr id="24" name="step-55"/>
          <p:cNvSpPr/>
          <p:nvPr/>
        </p:nvSpPr>
        <p:spPr>
          <a:xfrm>
            <a:off x="6821424" y="1325880"/>
            <a:ext cx="1865376" cy="1554480"/>
          </a:xfrm>
          <a:prstGeom prst="roundRect">
            <a:avLst>
              <a:gd name="adj" fmla="val 4706"/>
            </a:avLst>
          </a:prstGeom>
          <a:solidFill>
            <a:schemeClr val="bg2"/>
          </a:solidFill>
          <a:ln w="12700">
            <a:solidFill>
              <a:schemeClr val="bg2"/>
            </a:solidFill>
            <a:prstDash val="solid"/>
          </a:ln>
        </p:spPr>
      </p:sp>
      <p:sp>
        <p:nvSpPr>
          <p:cNvPr id="25" name="num-56"/>
          <p:cNvSpPr/>
          <p:nvPr/>
        </p:nvSpPr>
        <p:spPr>
          <a:xfrm>
            <a:off x="6931152" y="1435608"/>
            <a:ext cx="329184" cy="329184"/>
          </a:xfrm>
          <a:prstGeom prst="ellipse">
            <a:avLst/>
          </a:prstGeom>
          <a:solidFill>
            <a:schemeClr val="accent1"/>
          </a:solidFill>
          <a:ln w="12700">
            <a:solidFill>
              <a:schemeClr val="accent1"/>
            </a:solidFill>
            <a:prstDash val="solid"/>
          </a:ln>
        </p:spPr>
      </p:sp>
      <p:sp>
        <p:nvSpPr>
          <p:cNvPr id="26" name="numtxt-57"/>
          <p:cNvSpPr txBox="1"/>
          <p:nvPr/>
        </p:nvSpPr>
        <p:spPr>
          <a:xfrm>
            <a:off x="6931152" y="143560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7" name="steptitle-58"/>
          <p:cNvSpPr txBox="1"/>
          <p:nvPr/>
        </p:nvSpPr>
        <p:spPr>
          <a:xfrm>
            <a:off x="6931152" y="1819656"/>
            <a:ext cx="1645920" cy="310896"/>
          </a:xfrm>
          <a:prstGeom prst="rect">
            <a:avLst/>
          </a:prstGeom>
          <a:noFill/>
          <a:ln/>
        </p:spPr>
        <p:txBody>
          <a:bodyPr wrap="square" lIns="0" tIns="0" rIns="0" bIns="0" rtlCol="0" anchor="t"/>
          <a:lstStyle/>
          <a:p>
            <a:pPr indent="0" marL="0">
              <a:buNone/>
            </a:pPr>
            <a:r>
              <a:rPr lang="en-US" sz="1300" b="1" dirty="0">
                <a:solidFill>
                  <a:schemeClr val="tx2"/>
                </a:solidFill>
              </a:rPr>
              <a:t>Trang chủ</a:t>
            </a:r>
            <a:endParaRPr lang="en-US" sz="1300" dirty="0"/>
          </a:p>
        </p:txBody>
      </p:sp>
      <p:sp>
        <p:nvSpPr>
          <p:cNvPr id="28" name="stepdesc-59"/>
          <p:cNvSpPr txBox="1"/>
          <p:nvPr/>
        </p:nvSpPr>
        <p:spPr>
          <a:xfrm>
            <a:off x="6931152" y="2130552"/>
            <a:ext cx="1645920" cy="685800"/>
          </a:xfrm>
          <a:prstGeom prst="rect">
            <a:avLst/>
          </a:prstGeom>
          <a:noFill/>
          <a:ln/>
        </p:spPr>
        <p:txBody>
          <a:bodyPr wrap="square" lIns="0" tIns="0" rIns="0" bIns="0" rtlCol="0" anchor="t"/>
          <a:lstStyle/>
          <a:p>
            <a:pPr indent="0" marL="0">
              <a:buNone/>
            </a:pPr>
            <a:r>
              <a:rPr lang="en-US" sz="1050" dirty="0">
                <a:solidFill>
                  <a:schemeClr val="tx1"/>
                </a:solidFill>
              </a:rPr>
              <a:t>Hiện các khu vực theo vai trò người dùng đang có</a:t>
            </a:r>
            <a:endParaRPr lang="en-US" sz="1050" dirty="0"/>
          </a:p>
        </p:txBody>
      </p:sp>
      <p:sp>
        <p:nvSpPr>
          <p:cNvPr id="29" name="forgot"/>
          <p:cNvSpPr/>
          <p:nvPr/>
        </p:nvSpPr>
        <p:spPr>
          <a:xfrm>
            <a:off x="457200" y="3063240"/>
            <a:ext cx="8229600" cy="685800"/>
          </a:xfrm>
          <a:prstGeom prst="roundRect">
            <a:avLst>
              <a:gd name="adj" fmla="val 10667"/>
            </a:avLst>
          </a:prstGeom>
          <a:solidFill>
            <a:schemeClr val="bg2"/>
          </a:solidFill>
          <a:ln w="12700">
            <a:solidFill>
              <a:schemeClr val="bg2"/>
            </a:solidFill>
            <a:prstDash val="solid"/>
          </a:ln>
        </p:spPr>
      </p:sp>
      <p:sp>
        <p:nvSpPr>
          <p:cNvPr id="30" name="forgottxt"/>
          <p:cNvSpPr txBox="1"/>
          <p:nvPr/>
        </p:nvSpPr>
        <p:spPr>
          <a:xfrm>
            <a:off x="640080" y="3063240"/>
            <a:ext cx="7863840" cy="685800"/>
          </a:xfrm>
          <a:prstGeom prst="rect">
            <a:avLst/>
          </a:prstGeom>
          <a:noFill/>
          <a:ln/>
        </p:spPr>
        <p:txBody>
          <a:bodyPr wrap="square" lIns="0" tIns="0" rIns="0" bIns="0" rtlCol="0" anchor="ctr"/>
          <a:lstStyle/>
          <a:p>
            <a:pPr indent="0" marL="0">
              <a:buNone/>
            </a:pPr>
            <a:r>
              <a:rPr lang="en-US" sz="1200" b="1" dirty="0">
                <a:solidFill>
                  <a:schemeClr val="tx2"/>
                </a:solidFill>
              </a:rPr>
              <a:t>Nhánh quên mật khẩu: </a:t>
            </a:r>
            <a:pPr indent="0" marL="0">
              <a:buNone/>
            </a:pPr>
            <a:r>
              <a:rPr lang="en-US" sz="1200" dirty="0">
                <a:solidFill>
                  <a:schemeClr val="tx1"/>
                </a:solidFill>
              </a:rPr>
              <a:t>Forgot password → mail đặt lại → mật khẩu mới theo cùng chính sách → đăng nhập lại</a:t>
            </a:r>
            <a:endParaRPr lang="en-US" sz="1200" dirty="0"/>
          </a:p>
        </p:txBody>
      </p:sp>
      <p:sp>
        <p:nvSpPr>
          <p:cNvPr id="31" name="note-60"/>
          <p:cNvSpPr/>
          <p:nvPr/>
        </p:nvSpPr>
        <p:spPr>
          <a:xfrm>
            <a:off x="457200" y="3931920"/>
            <a:ext cx="8229600" cy="640080"/>
          </a:xfrm>
          <a:prstGeom prst="roundRect">
            <a:avLst>
              <a:gd name="adj" fmla="val 11429"/>
            </a:avLst>
          </a:prstGeom>
          <a:solidFill>
            <a:schemeClr val="accent6">
              <a:alpha val="45000"/>
            </a:schemeClr>
          </a:solidFill>
          <a:ln w="12700">
            <a:solidFill>
              <a:schemeClr val="accent6"/>
            </a:solidFill>
            <a:prstDash val="solid"/>
          </a:ln>
        </p:spPr>
      </p:sp>
      <p:sp>
        <p:nvSpPr>
          <p:cNvPr id="32" name="notetxt-61"/>
          <p:cNvSpPr txBox="1"/>
          <p:nvPr/>
        </p:nvSpPr>
        <p:spPr>
          <a:xfrm>
            <a:off x="640080" y="3931920"/>
            <a:ext cx="7863840" cy="640080"/>
          </a:xfrm>
          <a:prstGeom prst="rect">
            <a:avLst/>
          </a:prstGeom>
          <a:noFill/>
          <a:ln/>
        </p:spPr>
        <p:txBody>
          <a:bodyPr wrap="square" lIns="0" tIns="0" rIns="0" bIns="0" rtlCol="0" anchor="ctr"/>
          <a:lstStyle/>
          <a:p>
            <a:pPr indent="0" marL="0">
              <a:buNone/>
            </a:pPr>
            <a:r>
              <a:rPr lang="en-US" sz="1200" b="1" dirty="0">
                <a:solidFill>
                  <a:schemeClr val="tx2"/>
                </a:solidFill>
              </a:rPr>
              <a:t>Điểm nhấn: </a:t>
            </a:r>
            <a:pPr indent="0" marL="0">
              <a:buNone/>
            </a:pPr>
            <a:r>
              <a:rPr lang="en-US" sz="1200" dirty="0">
                <a:solidFill>
                  <a:schemeClr val="tx1"/>
                </a:solidFill>
              </a:rPr>
              <a:t>mật khẩu băm BCrypt; refresh token bị dùng lại sẽ sinh cảnh báo bảo mật cho Admin.</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498080" cy="566928"/>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Luồng 2 · Lập kế hoạch thừa kế</a:t>
            </a:r>
            <a:endParaRPr lang="en-US" sz="2800" dirty="0"/>
          </a:p>
        </p:txBody>
      </p:sp>
      <p:sp>
        <p:nvSpPr>
          <p:cNvPr id="3" name="Text 0"/>
          <p:cNvSpPr/>
          <p:nvPr>
            <p:ph idx="101" type="body" hasCustomPrompt="1"/>
          </p:nvPr>
        </p:nvSpPr>
        <p:spPr>
          <a:xfrm>
            <a:off x="457200" y="804672"/>
            <a:ext cx="7498080" cy="365760"/>
          </a:xfrm>
          <a:prstGeom prst="rect">
            <a:avLst/>
          </a:prstGeom>
          <a:noFill/>
          <a:ln/>
        </p:spPr>
        <p:txBody>
          <a:bodyPr wrap="square" lIns="0" tIns="0" rIns="0" bIns="0" rtlCol="0" anchor="t"/>
          <a:lstStyle/>
          <a:p>
            <a:pPr algn="l" indent="0" marL="0">
              <a:buNone/>
            </a:pPr>
            <a:r>
              <a:rPr lang="en-US" sz="1400" dirty="0">
                <a:solidFill>
                  <a:schemeClr val="accent5"/>
                </a:solidFill>
                <a:latin typeface="Calibri" pitchFamily="34" charset="0"/>
                <a:ea typeface="Calibri" pitchFamily="34" charset="-122"/>
                <a:cs typeface="Calibri" pitchFamily="34" charset="-120"/>
              </a:rPr>
              <a:t>Owner chuẩn bị mọi thứ khi còn khoẻ mạnh</a:t>
            </a:r>
            <a:endParaRPr lang="en-US" sz="1400" dirty="0"/>
          </a:p>
        </p:txBody>
      </p:sp>
      <p:sp>
        <p:nvSpPr>
          <p:cNvPr id="4" name="badge-62"/>
          <p:cNvSpPr/>
          <p:nvPr/>
        </p:nvSpPr>
        <p:spPr>
          <a:xfrm>
            <a:off x="8092440" y="274320"/>
            <a:ext cx="548640" cy="548640"/>
          </a:xfrm>
          <a:prstGeom prst="ellipse">
            <a:avLst/>
          </a:prstGeom>
          <a:solidFill>
            <a:schemeClr val="accent1"/>
          </a:solidFill>
          <a:ln w="12700">
            <a:solidFill>
              <a:schemeClr val="accent1"/>
            </a:solidFill>
            <a:prstDash val="solid"/>
          </a:ln>
        </p:spPr>
      </p:sp>
      <p:pic>
        <p:nvPicPr>
          <p:cNvPr id="5" name="icon-63" descr="icon">    </p:cNvPr>
          <p:cNvPicPr>
            <a:picLocks noChangeAspect="1"/>
          </p:cNvPicPr>
          <p:nvPr/>
        </p:nvPicPr>
        <p:blipFill>
          <a:blip r:embed="rId1"/>
          <a:stretch>
            <a:fillRect/>
          </a:stretch>
        </p:blipFill>
        <p:spPr>
          <a:xfrm>
            <a:off x="8202168" y="384048"/>
            <a:ext cx="329184" cy="329184"/>
          </a:xfrm>
          <a:prstGeom prst="rect">
            <a:avLst/>
          </a:prstGeom>
        </p:spPr>
      </p:pic>
      <p:sp>
        <p:nvSpPr>
          <p:cNvPr id="6" name="step-64"/>
          <p:cNvSpPr/>
          <p:nvPr/>
        </p:nvSpPr>
        <p:spPr>
          <a:xfrm>
            <a:off x="457200" y="1325880"/>
            <a:ext cx="1441094" cy="1554480"/>
          </a:xfrm>
          <a:prstGeom prst="roundRect">
            <a:avLst>
              <a:gd name="adj" fmla="val 5076"/>
            </a:avLst>
          </a:prstGeom>
          <a:solidFill>
            <a:schemeClr val="bg2"/>
          </a:solidFill>
          <a:ln w="12700">
            <a:solidFill>
              <a:schemeClr val="bg2"/>
            </a:solidFill>
            <a:prstDash val="solid"/>
          </a:ln>
        </p:spPr>
      </p:sp>
      <p:sp>
        <p:nvSpPr>
          <p:cNvPr id="7" name="num-65"/>
          <p:cNvSpPr/>
          <p:nvPr/>
        </p:nvSpPr>
        <p:spPr>
          <a:xfrm>
            <a:off x="566928" y="1435608"/>
            <a:ext cx="329184" cy="329184"/>
          </a:xfrm>
          <a:prstGeom prst="ellipse">
            <a:avLst/>
          </a:prstGeom>
          <a:solidFill>
            <a:schemeClr val="accent1"/>
          </a:solidFill>
          <a:ln w="12700">
            <a:solidFill>
              <a:schemeClr val="accent1"/>
            </a:solidFill>
            <a:prstDash val="solid"/>
          </a:ln>
        </p:spPr>
      </p:sp>
      <p:sp>
        <p:nvSpPr>
          <p:cNvPr id="8" name="numtxt-66"/>
          <p:cNvSpPr txBox="1"/>
          <p:nvPr/>
        </p:nvSpPr>
        <p:spPr>
          <a:xfrm>
            <a:off x="566928" y="143560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9" name="steptitle-67"/>
          <p:cNvSpPr txBox="1"/>
          <p:nvPr/>
        </p:nvSpPr>
        <p:spPr>
          <a:xfrm>
            <a:off x="566928" y="1819656"/>
            <a:ext cx="1221638" cy="310896"/>
          </a:xfrm>
          <a:prstGeom prst="rect">
            <a:avLst/>
          </a:prstGeom>
          <a:noFill/>
          <a:ln/>
        </p:spPr>
        <p:txBody>
          <a:bodyPr wrap="square" lIns="0" tIns="0" rIns="0" bIns="0" rtlCol="0" anchor="t"/>
          <a:lstStyle/>
          <a:p>
            <a:pPr indent="0" marL="0">
              <a:buNone/>
            </a:pPr>
            <a:r>
              <a:rPr lang="en-US" sz="1300" b="1" dirty="0">
                <a:solidFill>
                  <a:schemeClr val="tx2"/>
                </a:solidFill>
              </a:rPr>
              <a:t>Tạo vault</a:t>
            </a:r>
            <a:endParaRPr lang="en-US" sz="1300" dirty="0"/>
          </a:p>
        </p:txBody>
      </p:sp>
      <p:sp>
        <p:nvSpPr>
          <p:cNvPr id="10" name="stepdesc-68"/>
          <p:cNvSpPr txBox="1"/>
          <p:nvPr/>
        </p:nvSpPr>
        <p:spPr>
          <a:xfrm>
            <a:off x="566928" y="2130552"/>
            <a:ext cx="1221638" cy="685800"/>
          </a:xfrm>
          <a:prstGeom prst="rect">
            <a:avLst/>
          </a:prstGeom>
          <a:noFill/>
          <a:ln/>
        </p:spPr>
        <p:txBody>
          <a:bodyPr wrap="square" lIns="0" tIns="0" rIns="0" bIns="0" rtlCol="0" anchor="t"/>
          <a:lstStyle/>
          <a:p>
            <a:pPr indent="0" marL="0">
              <a:buNone/>
            </a:pPr>
            <a:r>
              <a:rPr lang="en-US" sz="1050" dirty="0">
                <a:solidFill>
                  <a:schemeClr val="tx1"/>
                </a:solidFill>
              </a:rPr>
              <a:t>Tên, mô tả, hướng dẫn bàn giao</a:t>
            </a:r>
            <a:endParaRPr lang="en-US" sz="1050" dirty="0"/>
          </a:p>
        </p:txBody>
      </p:sp>
      <p:sp>
        <p:nvSpPr>
          <p:cNvPr id="11" name="arrow-69"/>
          <p:cNvSpPr/>
          <p:nvPr/>
        </p:nvSpPr>
        <p:spPr>
          <a:xfrm>
            <a:off x="1953158" y="2011680"/>
            <a:ext cx="146304" cy="182880"/>
          </a:xfrm>
          <a:prstGeom prst="chevron">
            <a:avLst/>
          </a:prstGeom>
          <a:solidFill>
            <a:schemeClr val="accent2"/>
          </a:solidFill>
          <a:ln w="12700">
            <a:solidFill>
              <a:schemeClr val="accent2"/>
            </a:solidFill>
            <a:prstDash val="solid"/>
          </a:ln>
        </p:spPr>
      </p:sp>
      <p:sp>
        <p:nvSpPr>
          <p:cNvPr id="12" name="step-70"/>
          <p:cNvSpPr/>
          <p:nvPr/>
        </p:nvSpPr>
        <p:spPr>
          <a:xfrm>
            <a:off x="2154326" y="1325880"/>
            <a:ext cx="1441094" cy="1554480"/>
          </a:xfrm>
          <a:prstGeom prst="roundRect">
            <a:avLst>
              <a:gd name="adj" fmla="val 5076"/>
            </a:avLst>
          </a:prstGeom>
          <a:solidFill>
            <a:schemeClr val="bg2"/>
          </a:solidFill>
          <a:ln w="12700">
            <a:solidFill>
              <a:schemeClr val="bg2"/>
            </a:solidFill>
            <a:prstDash val="solid"/>
          </a:ln>
        </p:spPr>
      </p:sp>
      <p:sp>
        <p:nvSpPr>
          <p:cNvPr id="13" name="num-71"/>
          <p:cNvSpPr/>
          <p:nvPr/>
        </p:nvSpPr>
        <p:spPr>
          <a:xfrm>
            <a:off x="2264054" y="1435608"/>
            <a:ext cx="329184" cy="329184"/>
          </a:xfrm>
          <a:prstGeom prst="ellipse">
            <a:avLst/>
          </a:prstGeom>
          <a:solidFill>
            <a:schemeClr val="accent1"/>
          </a:solidFill>
          <a:ln w="12700">
            <a:solidFill>
              <a:schemeClr val="accent1"/>
            </a:solidFill>
            <a:prstDash val="solid"/>
          </a:ln>
        </p:spPr>
      </p:sp>
      <p:sp>
        <p:nvSpPr>
          <p:cNvPr id="14" name="numtxt-72"/>
          <p:cNvSpPr txBox="1"/>
          <p:nvPr/>
        </p:nvSpPr>
        <p:spPr>
          <a:xfrm>
            <a:off x="2264054" y="143560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5" name="steptitle-73"/>
          <p:cNvSpPr txBox="1"/>
          <p:nvPr/>
        </p:nvSpPr>
        <p:spPr>
          <a:xfrm>
            <a:off x="2264054" y="1819656"/>
            <a:ext cx="1221638" cy="310896"/>
          </a:xfrm>
          <a:prstGeom prst="rect">
            <a:avLst/>
          </a:prstGeom>
          <a:noFill/>
          <a:ln/>
        </p:spPr>
        <p:txBody>
          <a:bodyPr wrap="square" lIns="0" tIns="0" rIns="0" bIns="0" rtlCol="0" anchor="t"/>
          <a:lstStyle/>
          <a:p>
            <a:pPr indent="0" marL="0">
              <a:buNone/>
            </a:pPr>
            <a:r>
              <a:rPr lang="en-US" sz="1300" b="1" dirty="0">
                <a:solidFill>
                  <a:schemeClr val="tx2"/>
                </a:solidFill>
              </a:rPr>
              <a:t>Tài sản</a:t>
            </a:r>
            <a:endParaRPr lang="en-US" sz="1300" dirty="0"/>
          </a:p>
        </p:txBody>
      </p:sp>
      <p:sp>
        <p:nvSpPr>
          <p:cNvPr id="16" name="stepdesc-74"/>
          <p:cNvSpPr txBox="1"/>
          <p:nvPr/>
        </p:nvSpPr>
        <p:spPr>
          <a:xfrm>
            <a:off x="2264054" y="2130552"/>
            <a:ext cx="1221638" cy="685800"/>
          </a:xfrm>
          <a:prstGeom prst="rect">
            <a:avLst/>
          </a:prstGeom>
          <a:noFill/>
          <a:ln/>
        </p:spPr>
        <p:txBody>
          <a:bodyPr wrap="square" lIns="0" tIns="0" rIns="0" bIns="0" rtlCol="0" anchor="t"/>
          <a:lstStyle/>
          <a:p>
            <a:pPr indent="0" marL="0">
              <a:buNone/>
            </a:pPr>
            <a:r>
              <a:rPr lang="en-US" sz="1050" dirty="0">
                <a:solidFill>
                  <a:schemeClr val="tx1"/>
                </a:solidFill>
              </a:rPr>
              <a:t>Ngân hàng, ví crypto, MXH, di chúc; mã hoá AES-256</a:t>
            </a:r>
            <a:endParaRPr lang="en-US" sz="1050" dirty="0"/>
          </a:p>
        </p:txBody>
      </p:sp>
      <p:sp>
        <p:nvSpPr>
          <p:cNvPr id="17" name="arrow-75"/>
          <p:cNvSpPr/>
          <p:nvPr/>
        </p:nvSpPr>
        <p:spPr>
          <a:xfrm>
            <a:off x="3650285" y="2011680"/>
            <a:ext cx="146304" cy="182880"/>
          </a:xfrm>
          <a:prstGeom prst="chevron">
            <a:avLst/>
          </a:prstGeom>
          <a:solidFill>
            <a:schemeClr val="accent2"/>
          </a:solidFill>
          <a:ln w="12700">
            <a:solidFill>
              <a:schemeClr val="accent2"/>
            </a:solidFill>
            <a:prstDash val="solid"/>
          </a:ln>
        </p:spPr>
      </p:sp>
      <p:sp>
        <p:nvSpPr>
          <p:cNvPr id="18" name="step-76"/>
          <p:cNvSpPr/>
          <p:nvPr/>
        </p:nvSpPr>
        <p:spPr>
          <a:xfrm>
            <a:off x="3851453" y="1325880"/>
            <a:ext cx="1441094" cy="1554480"/>
          </a:xfrm>
          <a:prstGeom prst="roundRect">
            <a:avLst>
              <a:gd name="adj" fmla="val 5076"/>
            </a:avLst>
          </a:prstGeom>
          <a:solidFill>
            <a:schemeClr val="bg2"/>
          </a:solidFill>
          <a:ln w="12700">
            <a:solidFill>
              <a:schemeClr val="bg2"/>
            </a:solidFill>
            <a:prstDash val="solid"/>
          </a:ln>
        </p:spPr>
      </p:sp>
      <p:sp>
        <p:nvSpPr>
          <p:cNvPr id="19" name="num-77"/>
          <p:cNvSpPr/>
          <p:nvPr/>
        </p:nvSpPr>
        <p:spPr>
          <a:xfrm>
            <a:off x="3961181" y="1435608"/>
            <a:ext cx="329184" cy="329184"/>
          </a:xfrm>
          <a:prstGeom prst="ellipse">
            <a:avLst/>
          </a:prstGeom>
          <a:solidFill>
            <a:schemeClr val="accent1"/>
          </a:solidFill>
          <a:ln w="12700">
            <a:solidFill>
              <a:schemeClr val="accent1"/>
            </a:solidFill>
            <a:prstDash val="solid"/>
          </a:ln>
        </p:spPr>
      </p:sp>
      <p:sp>
        <p:nvSpPr>
          <p:cNvPr id="20" name="numtxt-78"/>
          <p:cNvSpPr txBox="1"/>
          <p:nvPr/>
        </p:nvSpPr>
        <p:spPr>
          <a:xfrm>
            <a:off x="3961181" y="143560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21" name="steptitle-79"/>
          <p:cNvSpPr txBox="1"/>
          <p:nvPr/>
        </p:nvSpPr>
        <p:spPr>
          <a:xfrm>
            <a:off x="3961181" y="1819656"/>
            <a:ext cx="1221638" cy="310896"/>
          </a:xfrm>
          <a:prstGeom prst="rect">
            <a:avLst/>
          </a:prstGeom>
          <a:noFill/>
          <a:ln/>
        </p:spPr>
        <p:txBody>
          <a:bodyPr wrap="square" lIns="0" tIns="0" rIns="0" bIns="0" rtlCol="0" anchor="t"/>
          <a:lstStyle/>
          <a:p>
            <a:pPr indent="0" marL="0">
              <a:buNone/>
            </a:pPr>
            <a:r>
              <a:rPr lang="en-US" sz="1300" b="1" dirty="0">
                <a:solidFill>
                  <a:schemeClr val="tx2"/>
                </a:solidFill>
              </a:rPr>
              <a:t>Người nhận</a:t>
            </a:r>
            <a:endParaRPr lang="en-US" sz="1300" dirty="0"/>
          </a:p>
        </p:txBody>
      </p:sp>
      <p:sp>
        <p:nvSpPr>
          <p:cNvPr id="22" name="stepdesc-80"/>
          <p:cNvSpPr txBox="1"/>
          <p:nvPr/>
        </p:nvSpPr>
        <p:spPr>
          <a:xfrm>
            <a:off x="3961181" y="2130552"/>
            <a:ext cx="1221638" cy="685800"/>
          </a:xfrm>
          <a:prstGeom prst="rect">
            <a:avLst/>
          </a:prstGeom>
          <a:noFill/>
          <a:ln/>
        </p:spPr>
        <p:txBody>
          <a:bodyPr wrap="square" lIns="0" tIns="0" rIns="0" bIns="0" rtlCol="0" anchor="t"/>
          <a:lstStyle/>
          <a:p>
            <a:pPr indent="0" marL="0">
              <a:buNone/>
            </a:pPr>
            <a:r>
              <a:rPr lang="en-US" sz="1050" dirty="0">
                <a:solidFill>
                  <a:schemeClr val="tx1"/>
                </a:solidFill>
              </a:rPr>
              <a:t>Theo email; chưa có tài khoản thì chờ đăng ký</a:t>
            </a:r>
            <a:endParaRPr lang="en-US" sz="1050" dirty="0"/>
          </a:p>
        </p:txBody>
      </p:sp>
      <p:sp>
        <p:nvSpPr>
          <p:cNvPr id="23" name="arrow-81"/>
          <p:cNvSpPr/>
          <p:nvPr/>
        </p:nvSpPr>
        <p:spPr>
          <a:xfrm>
            <a:off x="5347411" y="2011680"/>
            <a:ext cx="146304" cy="182880"/>
          </a:xfrm>
          <a:prstGeom prst="chevron">
            <a:avLst/>
          </a:prstGeom>
          <a:solidFill>
            <a:schemeClr val="accent2"/>
          </a:solidFill>
          <a:ln w="12700">
            <a:solidFill>
              <a:schemeClr val="accent2"/>
            </a:solidFill>
            <a:prstDash val="solid"/>
          </a:ln>
        </p:spPr>
      </p:sp>
      <p:sp>
        <p:nvSpPr>
          <p:cNvPr id="24" name="step-82"/>
          <p:cNvSpPr/>
          <p:nvPr/>
        </p:nvSpPr>
        <p:spPr>
          <a:xfrm>
            <a:off x="5548579" y="1325880"/>
            <a:ext cx="1441094" cy="1554480"/>
          </a:xfrm>
          <a:prstGeom prst="roundRect">
            <a:avLst>
              <a:gd name="adj" fmla="val 5076"/>
            </a:avLst>
          </a:prstGeom>
          <a:solidFill>
            <a:schemeClr val="bg2"/>
          </a:solidFill>
          <a:ln w="12700">
            <a:solidFill>
              <a:schemeClr val="bg2"/>
            </a:solidFill>
            <a:prstDash val="solid"/>
          </a:ln>
        </p:spPr>
      </p:sp>
      <p:sp>
        <p:nvSpPr>
          <p:cNvPr id="25" name="num-83"/>
          <p:cNvSpPr/>
          <p:nvPr/>
        </p:nvSpPr>
        <p:spPr>
          <a:xfrm>
            <a:off x="5658307" y="1435608"/>
            <a:ext cx="329184" cy="329184"/>
          </a:xfrm>
          <a:prstGeom prst="ellipse">
            <a:avLst/>
          </a:prstGeom>
          <a:solidFill>
            <a:schemeClr val="accent1"/>
          </a:solidFill>
          <a:ln w="12700">
            <a:solidFill>
              <a:schemeClr val="accent1"/>
            </a:solidFill>
            <a:prstDash val="solid"/>
          </a:ln>
        </p:spPr>
      </p:sp>
      <p:sp>
        <p:nvSpPr>
          <p:cNvPr id="26" name="numtxt-84"/>
          <p:cNvSpPr txBox="1"/>
          <p:nvPr/>
        </p:nvSpPr>
        <p:spPr>
          <a:xfrm>
            <a:off x="5658307" y="143560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7" name="steptitle-85"/>
          <p:cNvSpPr txBox="1"/>
          <p:nvPr/>
        </p:nvSpPr>
        <p:spPr>
          <a:xfrm>
            <a:off x="5658307" y="1819656"/>
            <a:ext cx="1221638" cy="310896"/>
          </a:xfrm>
          <a:prstGeom prst="rect">
            <a:avLst/>
          </a:prstGeom>
          <a:noFill/>
          <a:ln/>
        </p:spPr>
        <p:txBody>
          <a:bodyPr wrap="square" lIns="0" tIns="0" rIns="0" bIns="0" rtlCol="0" anchor="t"/>
          <a:lstStyle/>
          <a:p>
            <a:pPr indent="0" marL="0">
              <a:buNone/>
            </a:pPr>
            <a:r>
              <a:rPr lang="en-US" sz="1300" b="1" dirty="0">
                <a:solidFill>
                  <a:schemeClr val="tx2"/>
                </a:solidFill>
              </a:rPr>
              <a:t>Executor</a:t>
            </a:r>
            <a:endParaRPr lang="en-US" sz="1300" dirty="0"/>
          </a:p>
        </p:txBody>
      </p:sp>
      <p:sp>
        <p:nvSpPr>
          <p:cNvPr id="28" name="stepdesc-86"/>
          <p:cNvSpPr txBox="1"/>
          <p:nvPr/>
        </p:nvSpPr>
        <p:spPr>
          <a:xfrm>
            <a:off x="5658307" y="2130552"/>
            <a:ext cx="1221638" cy="685800"/>
          </a:xfrm>
          <a:prstGeom prst="rect">
            <a:avLst/>
          </a:prstGeom>
          <a:noFill/>
          <a:ln/>
        </p:spPr>
        <p:txBody>
          <a:bodyPr wrap="square" lIns="0" tIns="0" rIns="0" bIns="0" rtlCol="0" anchor="t"/>
          <a:lstStyle/>
          <a:p>
            <a:pPr indent="0" marL="0">
              <a:buNone/>
            </a:pPr>
            <a:r>
              <a:rPr lang="en-US" sz="1050" dirty="0">
                <a:solidFill>
                  <a:schemeClr val="tx1"/>
                </a:solidFill>
              </a:rPr>
              <a:t>Primary + Backup, nhận mail chỉ định</a:t>
            </a:r>
            <a:endParaRPr lang="en-US" sz="1050" dirty="0"/>
          </a:p>
        </p:txBody>
      </p:sp>
      <p:sp>
        <p:nvSpPr>
          <p:cNvPr id="29" name="arrow-87"/>
          <p:cNvSpPr/>
          <p:nvPr/>
        </p:nvSpPr>
        <p:spPr>
          <a:xfrm>
            <a:off x="7044538" y="2011680"/>
            <a:ext cx="146304" cy="182880"/>
          </a:xfrm>
          <a:prstGeom prst="chevron">
            <a:avLst/>
          </a:prstGeom>
          <a:solidFill>
            <a:schemeClr val="accent2"/>
          </a:solidFill>
          <a:ln w="12700">
            <a:solidFill>
              <a:schemeClr val="accent2"/>
            </a:solidFill>
            <a:prstDash val="solid"/>
          </a:ln>
        </p:spPr>
      </p:sp>
      <p:sp>
        <p:nvSpPr>
          <p:cNvPr id="30" name="step-88"/>
          <p:cNvSpPr/>
          <p:nvPr/>
        </p:nvSpPr>
        <p:spPr>
          <a:xfrm>
            <a:off x="7245706" y="1325880"/>
            <a:ext cx="1441094" cy="1554480"/>
          </a:xfrm>
          <a:prstGeom prst="roundRect">
            <a:avLst>
              <a:gd name="adj" fmla="val 5076"/>
            </a:avLst>
          </a:prstGeom>
          <a:solidFill>
            <a:schemeClr val="bg2"/>
          </a:solidFill>
          <a:ln w="12700">
            <a:solidFill>
              <a:schemeClr val="bg2"/>
            </a:solidFill>
            <a:prstDash val="solid"/>
          </a:ln>
        </p:spPr>
      </p:sp>
      <p:sp>
        <p:nvSpPr>
          <p:cNvPr id="31" name="num-89"/>
          <p:cNvSpPr/>
          <p:nvPr/>
        </p:nvSpPr>
        <p:spPr>
          <a:xfrm>
            <a:off x="7355434" y="1435608"/>
            <a:ext cx="329184" cy="329184"/>
          </a:xfrm>
          <a:prstGeom prst="ellipse">
            <a:avLst/>
          </a:prstGeom>
          <a:solidFill>
            <a:schemeClr val="accent1"/>
          </a:solidFill>
          <a:ln w="12700">
            <a:solidFill>
              <a:schemeClr val="accent1"/>
            </a:solidFill>
            <a:prstDash val="solid"/>
          </a:ln>
        </p:spPr>
      </p:sp>
      <p:sp>
        <p:nvSpPr>
          <p:cNvPr id="32" name="numtxt-90"/>
          <p:cNvSpPr txBox="1"/>
          <p:nvPr/>
        </p:nvSpPr>
        <p:spPr>
          <a:xfrm>
            <a:off x="7355434" y="143560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33" name="steptitle-91"/>
          <p:cNvSpPr txBox="1"/>
          <p:nvPr/>
        </p:nvSpPr>
        <p:spPr>
          <a:xfrm>
            <a:off x="7355434" y="1819656"/>
            <a:ext cx="1221638" cy="310896"/>
          </a:xfrm>
          <a:prstGeom prst="rect">
            <a:avLst/>
          </a:prstGeom>
          <a:noFill/>
          <a:ln/>
        </p:spPr>
        <p:txBody>
          <a:bodyPr wrap="square" lIns="0" tIns="0" rIns="0" bIns="0" rtlCol="0" anchor="t"/>
          <a:lstStyle/>
          <a:p>
            <a:pPr indent="0" marL="0">
              <a:buNone/>
            </a:pPr>
            <a:r>
              <a:rPr lang="en-US" sz="1300" b="1" dirty="0">
                <a:solidFill>
                  <a:schemeClr val="tx2"/>
                </a:solidFill>
              </a:rPr>
              <a:t>Bật DMS</a:t>
            </a:r>
            <a:endParaRPr lang="en-US" sz="1300" dirty="0"/>
          </a:p>
        </p:txBody>
      </p:sp>
      <p:sp>
        <p:nvSpPr>
          <p:cNvPr id="34" name="stepdesc-92"/>
          <p:cNvSpPr txBox="1"/>
          <p:nvPr/>
        </p:nvSpPr>
        <p:spPr>
          <a:xfrm>
            <a:off x="7355434" y="2130552"/>
            <a:ext cx="1221638" cy="685800"/>
          </a:xfrm>
          <a:prstGeom prst="rect">
            <a:avLst/>
          </a:prstGeom>
          <a:noFill/>
          <a:ln/>
        </p:spPr>
        <p:txBody>
          <a:bodyPr wrap="square" lIns="0" tIns="0" rIns="0" bIns="0" rtlCol="0" anchor="t"/>
          <a:lstStyle/>
          <a:p>
            <a:pPr indent="0" marL="0">
              <a:buNone/>
            </a:pPr>
            <a:r>
              <a:rPr lang="en-US" sz="1050" dirty="0">
                <a:solidFill>
                  <a:schemeClr val="tx1"/>
                </a:solidFill>
              </a:rPr>
              <a:t>Chu kỳ check-in, thời gian ân hạn, số lần nhắc</a:t>
            </a:r>
            <a:endParaRPr lang="en-US" sz="1050" dirty="0"/>
          </a:p>
        </p:txBody>
      </p:sp>
      <p:sp>
        <p:nvSpPr>
          <p:cNvPr id="35" name="guard1"/>
          <p:cNvSpPr/>
          <p:nvPr/>
        </p:nvSpPr>
        <p:spPr>
          <a:xfrm>
            <a:off x="457200" y="3063240"/>
            <a:ext cx="4023360" cy="731520"/>
          </a:xfrm>
          <a:prstGeom prst="roundRect">
            <a:avLst>
              <a:gd name="adj" fmla="val 10000"/>
            </a:avLst>
          </a:prstGeom>
          <a:solidFill>
            <a:schemeClr val="accent4">
              <a:alpha val="15000"/>
            </a:schemeClr>
          </a:solidFill>
          <a:ln w="12700">
            <a:solidFill>
              <a:schemeClr val="accent4"/>
            </a:solidFill>
            <a:prstDash val="solid"/>
          </a:ln>
        </p:spPr>
      </p:sp>
      <p:sp>
        <p:nvSpPr>
          <p:cNvPr id="36" name="guard1txt"/>
          <p:cNvSpPr txBox="1"/>
          <p:nvPr/>
        </p:nvSpPr>
        <p:spPr>
          <a:xfrm>
            <a:off x="594360" y="3063240"/>
            <a:ext cx="3749040" cy="731520"/>
          </a:xfrm>
          <a:prstGeom prst="rect">
            <a:avLst/>
          </a:prstGeom>
          <a:noFill/>
          <a:ln/>
        </p:spPr>
        <p:txBody>
          <a:bodyPr wrap="square" lIns="0" tIns="0" rIns="0" bIns="0" rtlCol="0" anchor="ctr"/>
          <a:lstStyle/>
          <a:p>
            <a:pPr indent="0" marL="0">
              <a:buNone/>
            </a:pPr>
            <a:r>
              <a:rPr lang="en-US" sz="1150" b="1" dirty="0">
                <a:solidFill>
                  <a:schemeClr val="accent4"/>
                </a:solidFill>
              </a:rPr>
              <a:t>Ràng buộc: </a:t>
            </a:r>
            <a:pPr indent="0" marL="0">
              <a:buNone/>
            </a:pPr>
            <a:r>
              <a:rPr lang="en-US" sz="1150" dirty="0">
                <a:solidFill>
                  <a:schemeClr val="tx1"/>
                </a:solidFill>
              </a:rPr>
              <a:t>phải có Executor mới bật được DMS; Executor không được là người thụ hưởng.</a:t>
            </a:r>
            <a:endParaRPr lang="en-US" sz="1150" dirty="0"/>
          </a:p>
        </p:txBody>
      </p:sp>
      <p:sp>
        <p:nvSpPr>
          <p:cNvPr id="37" name="guard2"/>
          <p:cNvSpPr/>
          <p:nvPr/>
        </p:nvSpPr>
        <p:spPr>
          <a:xfrm>
            <a:off x="4663440" y="3063240"/>
            <a:ext cx="4023360" cy="731520"/>
          </a:xfrm>
          <a:prstGeom prst="roundRect">
            <a:avLst>
              <a:gd name="adj" fmla="val 10000"/>
            </a:avLst>
          </a:prstGeom>
          <a:solidFill>
            <a:schemeClr val="accent3">
              <a:alpha val="15000"/>
            </a:schemeClr>
          </a:solidFill>
          <a:ln w="12700">
            <a:solidFill>
              <a:schemeClr val="accent3"/>
            </a:solidFill>
            <a:prstDash val="solid"/>
          </a:ln>
        </p:spPr>
      </p:sp>
      <p:sp>
        <p:nvSpPr>
          <p:cNvPr id="38" name="guard2txt"/>
          <p:cNvSpPr txBox="1"/>
          <p:nvPr/>
        </p:nvSpPr>
        <p:spPr>
          <a:xfrm>
            <a:off x="4800600" y="3063240"/>
            <a:ext cx="3749040" cy="731520"/>
          </a:xfrm>
          <a:prstGeom prst="rect">
            <a:avLst/>
          </a:prstGeom>
          <a:noFill/>
          <a:ln/>
        </p:spPr>
        <p:txBody>
          <a:bodyPr wrap="square" lIns="0" tIns="0" rIns="0" bIns="0" rtlCol="0" anchor="ctr"/>
          <a:lstStyle/>
          <a:p>
            <a:pPr indent="0" marL="0">
              <a:buNone/>
            </a:pPr>
            <a:r>
              <a:rPr lang="en-US" sz="1150" b="1" dirty="0">
                <a:solidFill>
                  <a:schemeClr val="accent3"/>
                </a:solidFill>
              </a:rPr>
              <a:t>Dẫn đường: </a:t>
            </a:r>
            <a:pPr indent="0" marL="0">
              <a:buNone/>
            </a:pPr>
            <a:r>
              <a:rPr lang="en-US" sz="1150" dirty="0">
                <a:solidFill>
                  <a:schemeClr val="tx1"/>
                </a:solidFill>
              </a:rPr>
              <a:t>banner "Your vaults are not protected yet" chỉ ra bước còn thiếu tiếp theo.</a:t>
            </a:r>
            <a:endParaRPr lang="en-US" sz="1150" dirty="0"/>
          </a:p>
        </p:txBody>
      </p:sp>
      <p:sp>
        <p:nvSpPr>
          <p:cNvPr id="39" name="note-93"/>
          <p:cNvSpPr/>
          <p:nvPr/>
        </p:nvSpPr>
        <p:spPr>
          <a:xfrm>
            <a:off x="457200" y="3931920"/>
            <a:ext cx="8229600" cy="640080"/>
          </a:xfrm>
          <a:prstGeom prst="roundRect">
            <a:avLst>
              <a:gd name="adj" fmla="val 11429"/>
            </a:avLst>
          </a:prstGeom>
          <a:solidFill>
            <a:schemeClr val="accent6">
              <a:alpha val="45000"/>
            </a:schemeClr>
          </a:solidFill>
          <a:ln w="12700">
            <a:solidFill>
              <a:schemeClr val="accent6"/>
            </a:solidFill>
            <a:prstDash val="solid"/>
          </a:ln>
        </p:spPr>
      </p:sp>
      <p:sp>
        <p:nvSpPr>
          <p:cNvPr id="40" name="notetxt-94"/>
          <p:cNvSpPr txBox="1"/>
          <p:nvPr/>
        </p:nvSpPr>
        <p:spPr>
          <a:xfrm>
            <a:off x="640080" y="3931920"/>
            <a:ext cx="7863840" cy="640080"/>
          </a:xfrm>
          <a:prstGeom prst="rect">
            <a:avLst/>
          </a:prstGeom>
          <a:noFill/>
          <a:ln/>
        </p:spPr>
        <p:txBody>
          <a:bodyPr wrap="square" lIns="0" tIns="0" rIns="0" bIns="0" rtlCol="0" anchor="ctr"/>
          <a:lstStyle/>
          <a:p>
            <a:pPr indent="0" marL="0">
              <a:buNone/>
            </a:pPr>
            <a:r>
              <a:rPr lang="en-US" sz="1200" b="1" dirty="0">
                <a:solidFill>
                  <a:schemeClr val="tx2"/>
                </a:solidFill>
              </a:rPr>
              <a:t>Điểm nhấn: </a:t>
            </a:r>
            <a:pPr indent="0" marL="0">
              <a:buNone/>
            </a:pPr>
            <a:r>
              <a:rPr lang="en-US" sz="1200" dirty="0">
                <a:solidFill>
                  <a:schemeClr val="tx1"/>
                </a:solidFill>
              </a:rPr>
              <a:t>đổi người thụ hưởng / Executor đều cần xác nhận thay thế và gửi mail cho người bị thay.</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498080" cy="566928"/>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Luồng 3 · Còn sống: nhắc và check-in</a:t>
            </a:r>
            <a:endParaRPr lang="en-US" sz="2800" dirty="0"/>
          </a:p>
        </p:txBody>
      </p:sp>
      <p:sp>
        <p:nvSpPr>
          <p:cNvPr id="3" name="Text 0"/>
          <p:cNvSpPr/>
          <p:nvPr>
            <p:ph idx="101" type="body" hasCustomPrompt="1"/>
          </p:nvPr>
        </p:nvSpPr>
        <p:spPr>
          <a:xfrm>
            <a:off x="457200" y="804672"/>
            <a:ext cx="7498080" cy="365760"/>
          </a:xfrm>
          <a:prstGeom prst="rect">
            <a:avLst/>
          </a:prstGeom>
          <a:noFill/>
          <a:ln/>
        </p:spPr>
        <p:txBody>
          <a:bodyPr wrap="square" lIns="0" tIns="0" rIns="0" bIns="0" rtlCol="0" anchor="t"/>
          <a:lstStyle/>
          <a:p>
            <a:pPr algn="l" indent="0" marL="0">
              <a:buNone/>
            </a:pPr>
            <a:r>
              <a:rPr lang="en-US" sz="1400" dirty="0">
                <a:solidFill>
                  <a:schemeClr val="accent5"/>
                </a:solidFill>
                <a:latin typeface="Calibri" pitchFamily="34" charset="0"/>
                <a:ea typeface="Calibri" pitchFamily="34" charset="-122"/>
                <a:cs typeface="Calibri" pitchFamily="34" charset="-120"/>
              </a:rPr>
              <a:t>Hệ thống chỉ kích hoạt khi chắc chắn Owner không phản hồi</a:t>
            </a:r>
            <a:endParaRPr lang="en-US" sz="1400" dirty="0"/>
          </a:p>
        </p:txBody>
      </p:sp>
      <p:sp>
        <p:nvSpPr>
          <p:cNvPr id="4" name="badge-95"/>
          <p:cNvSpPr/>
          <p:nvPr/>
        </p:nvSpPr>
        <p:spPr>
          <a:xfrm>
            <a:off x="8092440" y="274320"/>
            <a:ext cx="548640" cy="548640"/>
          </a:xfrm>
          <a:prstGeom prst="ellipse">
            <a:avLst/>
          </a:prstGeom>
          <a:solidFill>
            <a:schemeClr val="accent3"/>
          </a:solidFill>
          <a:ln w="12700">
            <a:solidFill>
              <a:schemeClr val="accent3"/>
            </a:solidFill>
            <a:prstDash val="solid"/>
          </a:ln>
        </p:spPr>
      </p:sp>
      <p:pic>
        <p:nvPicPr>
          <p:cNvPr id="5" name="icon-96" descr="icon">    </p:cNvPr>
          <p:cNvPicPr>
            <a:picLocks noChangeAspect="1"/>
          </p:cNvPicPr>
          <p:nvPr/>
        </p:nvPicPr>
        <p:blipFill>
          <a:blip r:embed="rId1"/>
          <a:stretch>
            <a:fillRect/>
          </a:stretch>
        </p:blipFill>
        <p:spPr>
          <a:xfrm>
            <a:off x="8202168" y="384048"/>
            <a:ext cx="329184" cy="329184"/>
          </a:xfrm>
          <a:prstGeom prst="rect">
            <a:avLst/>
          </a:prstGeom>
        </p:spPr>
      </p:pic>
      <p:sp>
        <p:nvSpPr>
          <p:cNvPr id="6" name="step-97"/>
          <p:cNvSpPr/>
          <p:nvPr/>
        </p:nvSpPr>
        <p:spPr>
          <a:xfrm>
            <a:off x="457200" y="1325880"/>
            <a:ext cx="1441094" cy="1554480"/>
          </a:xfrm>
          <a:prstGeom prst="roundRect">
            <a:avLst>
              <a:gd name="adj" fmla="val 5076"/>
            </a:avLst>
          </a:prstGeom>
          <a:solidFill>
            <a:schemeClr val="bg2"/>
          </a:solidFill>
          <a:ln w="12700">
            <a:solidFill>
              <a:schemeClr val="bg2"/>
            </a:solidFill>
            <a:prstDash val="solid"/>
          </a:ln>
        </p:spPr>
      </p:sp>
      <p:sp>
        <p:nvSpPr>
          <p:cNvPr id="7" name="num-98"/>
          <p:cNvSpPr/>
          <p:nvPr/>
        </p:nvSpPr>
        <p:spPr>
          <a:xfrm>
            <a:off x="566928" y="1435608"/>
            <a:ext cx="329184" cy="329184"/>
          </a:xfrm>
          <a:prstGeom prst="ellipse">
            <a:avLst/>
          </a:prstGeom>
          <a:solidFill>
            <a:schemeClr val="accent3"/>
          </a:solidFill>
          <a:ln w="12700">
            <a:solidFill>
              <a:schemeClr val="accent3"/>
            </a:solidFill>
            <a:prstDash val="solid"/>
          </a:ln>
        </p:spPr>
      </p:sp>
      <p:sp>
        <p:nvSpPr>
          <p:cNvPr id="8" name="numtxt-99"/>
          <p:cNvSpPr txBox="1"/>
          <p:nvPr/>
        </p:nvSpPr>
        <p:spPr>
          <a:xfrm>
            <a:off x="566928" y="143560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9" name="steptitle-100"/>
          <p:cNvSpPr txBox="1"/>
          <p:nvPr/>
        </p:nvSpPr>
        <p:spPr>
          <a:xfrm>
            <a:off x="566928" y="1819656"/>
            <a:ext cx="1221638" cy="310896"/>
          </a:xfrm>
          <a:prstGeom prst="rect">
            <a:avLst/>
          </a:prstGeom>
          <a:noFill/>
          <a:ln/>
        </p:spPr>
        <p:txBody>
          <a:bodyPr wrap="square" lIns="0" tIns="0" rIns="0" bIns="0" rtlCol="0" anchor="t"/>
          <a:lstStyle/>
          <a:p>
            <a:pPr indent="0" marL="0">
              <a:buNone/>
            </a:pPr>
            <a:r>
              <a:rPr lang="en-US" sz="1300" b="1" dirty="0">
                <a:solidFill>
                  <a:schemeClr val="tx2"/>
                </a:solidFill>
              </a:rPr>
              <a:t>DMS hoạt động</a:t>
            </a:r>
            <a:endParaRPr lang="en-US" sz="1300" dirty="0"/>
          </a:p>
        </p:txBody>
      </p:sp>
      <p:sp>
        <p:nvSpPr>
          <p:cNvPr id="10" name="stepdesc-101"/>
          <p:cNvSpPr txBox="1"/>
          <p:nvPr/>
        </p:nvSpPr>
        <p:spPr>
          <a:xfrm>
            <a:off x="566928" y="2130552"/>
            <a:ext cx="1221638" cy="685800"/>
          </a:xfrm>
          <a:prstGeom prst="rect">
            <a:avLst/>
          </a:prstGeom>
          <a:noFill/>
          <a:ln/>
        </p:spPr>
        <p:txBody>
          <a:bodyPr wrap="square" lIns="0" tIns="0" rIns="0" bIns="0" rtlCol="0" anchor="t"/>
          <a:lstStyle/>
          <a:p>
            <a:pPr indent="0" marL="0">
              <a:buNone/>
            </a:pPr>
            <a:r>
              <a:rPr lang="en-US" sz="1050" dirty="0">
                <a:solidFill>
                  <a:schemeClr val="tx1"/>
                </a:solidFill>
              </a:rPr>
              <a:t>Hạn check-in = lần cuối + chu kỳ</a:t>
            </a:r>
            <a:endParaRPr lang="en-US" sz="1050" dirty="0"/>
          </a:p>
        </p:txBody>
      </p:sp>
      <p:sp>
        <p:nvSpPr>
          <p:cNvPr id="11" name="arrow-102"/>
          <p:cNvSpPr/>
          <p:nvPr/>
        </p:nvSpPr>
        <p:spPr>
          <a:xfrm>
            <a:off x="1953158" y="2011680"/>
            <a:ext cx="146304" cy="182880"/>
          </a:xfrm>
          <a:prstGeom prst="chevron">
            <a:avLst/>
          </a:prstGeom>
          <a:solidFill>
            <a:schemeClr val="accent2"/>
          </a:solidFill>
          <a:ln w="12700">
            <a:solidFill>
              <a:schemeClr val="accent2"/>
            </a:solidFill>
            <a:prstDash val="solid"/>
          </a:ln>
        </p:spPr>
      </p:sp>
      <p:sp>
        <p:nvSpPr>
          <p:cNvPr id="12" name="step-103"/>
          <p:cNvSpPr/>
          <p:nvPr/>
        </p:nvSpPr>
        <p:spPr>
          <a:xfrm>
            <a:off x="2154326" y="1325880"/>
            <a:ext cx="1441094" cy="1554480"/>
          </a:xfrm>
          <a:prstGeom prst="roundRect">
            <a:avLst>
              <a:gd name="adj" fmla="val 5076"/>
            </a:avLst>
          </a:prstGeom>
          <a:solidFill>
            <a:schemeClr val="bg2"/>
          </a:solidFill>
          <a:ln w="12700">
            <a:solidFill>
              <a:schemeClr val="bg2"/>
            </a:solidFill>
            <a:prstDash val="solid"/>
          </a:ln>
        </p:spPr>
      </p:sp>
      <p:sp>
        <p:nvSpPr>
          <p:cNvPr id="13" name="num-104"/>
          <p:cNvSpPr/>
          <p:nvPr/>
        </p:nvSpPr>
        <p:spPr>
          <a:xfrm>
            <a:off x="2264054" y="1435608"/>
            <a:ext cx="329184" cy="329184"/>
          </a:xfrm>
          <a:prstGeom prst="ellipse">
            <a:avLst/>
          </a:prstGeom>
          <a:solidFill>
            <a:schemeClr val="accent3"/>
          </a:solidFill>
          <a:ln w="12700">
            <a:solidFill>
              <a:schemeClr val="accent3"/>
            </a:solidFill>
            <a:prstDash val="solid"/>
          </a:ln>
        </p:spPr>
      </p:sp>
      <p:sp>
        <p:nvSpPr>
          <p:cNvPr id="14" name="numtxt-105"/>
          <p:cNvSpPr txBox="1"/>
          <p:nvPr/>
        </p:nvSpPr>
        <p:spPr>
          <a:xfrm>
            <a:off x="2264054" y="143560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5" name="steptitle-106"/>
          <p:cNvSpPr txBox="1"/>
          <p:nvPr/>
        </p:nvSpPr>
        <p:spPr>
          <a:xfrm>
            <a:off x="2264054" y="1819656"/>
            <a:ext cx="1221638" cy="310896"/>
          </a:xfrm>
          <a:prstGeom prst="rect">
            <a:avLst/>
          </a:prstGeom>
          <a:noFill/>
          <a:ln/>
        </p:spPr>
        <p:txBody>
          <a:bodyPr wrap="square" lIns="0" tIns="0" rIns="0" bIns="0" rtlCol="0" anchor="t"/>
          <a:lstStyle/>
          <a:p>
            <a:pPr indent="0" marL="0">
              <a:buNone/>
            </a:pPr>
            <a:r>
              <a:rPr lang="en-US" sz="1300" b="1" dirty="0">
                <a:solidFill>
                  <a:schemeClr val="tx2"/>
                </a:solidFill>
              </a:rPr>
              <a:t>Mail nhắc</a:t>
            </a:r>
            <a:endParaRPr lang="en-US" sz="1300" dirty="0"/>
          </a:p>
        </p:txBody>
      </p:sp>
      <p:sp>
        <p:nvSpPr>
          <p:cNvPr id="16" name="stepdesc-107"/>
          <p:cNvSpPr txBox="1"/>
          <p:nvPr/>
        </p:nvSpPr>
        <p:spPr>
          <a:xfrm>
            <a:off x="2264054" y="2130552"/>
            <a:ext cx="1221638" cy="685800"/>
          </a:xfrm>
          <a:prstGeom prst="rect">
            <a:avLst/>
          </a:prstGeom>
          <a:noFill/>
          <a:ln/>
        </p:spPr>
        <p:txBody>
          <a:bodyPr wrap="square" lIns="0" tIns="0" rIns="0" bIns="0" rtlCol="0" anchor="t"/>
          <a:lstStyle/>
          <a:p>
            <a:pPr indent="0" marL="0">
              <a:buNone/>
            </a:pPr>
            <a:r>
              <a:rPr lang="en-US" sz="1050" dirty="0">
                <a:solidFill>
                  <a:schemeClr val="tx1"/>
                </a:solidFill>
              </a:rPr>
              <a:t>Gửi N lần trước hạn, mỗi mail có link check-in</a:t>
            </a:r>
            <a:endParaRPr lang="en-US" sz="1050" dirty="0"/>
          </a:p>
        </p:txBody>
      </p:sp>
      <p:sp>
        <p:nvSpPr>
          <p:cNvPr id="17" name="arrow-108"/>
          <p:cNvSpPr/>
          <p:nvPr/>
        </p:nvSpPr>
        <p:spPr>
          <a:xfrm>
            <a:off x="3650285" y="2011680"/>
            <a:ext cx="146304" cy="182880"/>
          </a:xfrm>
          <a:prstGeom prst="chevron">
            <a:avLst/>
          </a:prstGeom>
          <a:solidFill>
            <a:schemeClr val="accent2"/>
          </a:solidFill>
          <a:ln w="12700">
            <a:solidFill>
              <a:schemeClr val="accent2"/>
            </a:solidFill>
            <a:prstDash val="solid"/>
          </a:ln>
        </p:spPr>
      </p:sp>
      <p:sp>
        <p:nvSpPr>
          <p:cNvPr id="18" name="step-109"/>
          <p:cNvSpPr/>
          <p:nvPr/>
        </p:nvSpPr>
        <p:spPr>
          <a:xfrm>
            <a:off x="3851453" y="1325880"/>
            <a:ext cx="1441094" cy="1554480"/>
          </a:xfrm>
          <a:prstGeom prst="roundRect">
            <a:avLst>
              <a:gd name="adj" fmla="val 5076"/>
            </a:avLst>
          </a:prstGeom>
          <a:solidFill>
            <a:schemeClr val="bg2"/>
          </a:solidFill>
          <a:ln w="12700">
            <a:solidFill>
              <a:schemeClr val="bg2"/>
            </a:solidFill>
            <a:prstDash val="solid"/>
          </a:ln>
        </p:spPr>
      </p:sp>
      <p:sp>
        <p:nvSpPr>
          <p:cNvPr id="19" name="num-110"/>
          <p:cNvSpPr/>
          <p:nvPr/>
        </p:nvSpPr>
        <p:spPr>
          <a:xfrm>
            <a:off x="3961181" y="1435608"/>
            <a:ext cx="329184" cy="329184"/>
          </a:xfrm>
          <a:prstGeom prst="ellipse">
            <a:avLst/>
          </a:prstGeom>
          <a:solidFill>
            <a:schemeClr val="accent3"/>
          </a:solidFill>
          <a:ln w="12700">
            <a:solidFill>
              <a:schemeClr val="accent3"/>
            </a:solidFill>
            <a:prstDash val="solid"/>
          </a:ln>
        </p:spPr>
      </p:sp>
      <p:sp>
        <p:nvSpPr>
          <p:cNvPr id="20" name="numtxt-111"/>
          <p:cNvSpPr txBox="1"/>
          <p:nvPr/>
        </p:nvSpPr>
        <p:spPr>
          <a:xfrm>
            <a:off x="3961181" y="143560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21" name="steptitle-112"/>
          <p:cNvSpPr txBox="1"/>
          <p:nvPr/>
        </p:nvSpPr>
        <p:spPr>
          <a:xfrm>
            <a:off x="3961181" y="1819656"/>
            <a:ext cx="1221638" cy="310896"/>
          </a:xfrm>
          <a:prstGeom prst="rect">
            <a:avLst/>
          </a:prstGeom>
          <a:noFill/>
          <a:ln/>
        </p:spPr>
        <p:txBody>
          <a:bodyPr wrap="square" lIns="0" tIns="0" rIns="0" bIns="0" rtlCol="0" anchor="t"/>
          <a:lstStyle/>
          <a:p>
            <a:pPr indent="0" marL="0">
              <a:buNone/>
            </a:pPr>
            <a:r>
              <a:rPr lang="en-US" sz="1300" b="1" dirty="0">
                <a:solidFill>
                  <a:schemeClr val="tx2"/>
                </a:solidFill>
              </a:rPr>
              <a:t>Check-in</a:t>
            </a:r>
            <a:endParaRPr lang="en-US" sz="1300" dirty="0"/>
          </a:p>
        </p:txBody>
      </p:sp>
      <p:sp>
        <p:nvSpPr>
          <p:cNvPr id="22" name="stepdesc-113"/>
          <p:cNvSpPr txBox="1"/>
          <p:nvPr/>
        </p:nvSpPr>
        <p:spPr>
          <a:xfrm>
            <a:off x="3961181" y="2130552"/>
            <a:ext cx="1221638" cy="685800"/>
          </a:xfrm>
          <a:prstGeom prst="rect">
            <a:avLst/>
          </a:prstGeom>
          <a:noFill/>
          <a:ln/>
        </p:spPr>
        <p:txBody>
          <a:bodyPr wrap="square" lIns="0" tIns="0" rIns="0" bIns="0" rtlCol="0" anchor="t"/>
          <a:lstStyle/>
          <a:p>
            <a:pPr indent="0" marL="0">
              <a:buNone/>
            </a:pPr>
            <a:r>
              <a:rPr lang="en-US" sz="1050" dirty="0">
                <a:solidFill>
                  <a:schemeClr val="tx1"/>
                </a:solidFill>
              </a:rPr>
              <a:t>Owner bấm Check in → hạn mới, quay về bước 1</a:t>
            </a:r>
            <a:endParaRPr lang="en-US" sz="1050" dirty="0"/>
          </a:p>
        </p:txBody>
      </p:sp>
      <p:sp>
        <p:nvSpPr>
          <p:cNvPr id="23" name="arrow-114"/>
          <p:cNvSpPr/>
          <p:nvPr/>
        </p:nvSpPr>
        <p:spPr>
          <a:xfrm>
            <a:off x="5347411" y="2011680"/>
            <a:ext cx="146304" cy="182880"/>
          </a:xfrm>
          <a:prstGeom prst="chevron">
            <a:avLst/>
          </a:prstGeom>
          <a:solidFill>
            <a:schemeClr val="accent2"/>
          </a:solidFill>
          <a:ln w="12700">
            <a:solidFill>
              <a:schemeClr val="accent2"/>
            </a:solidFill>
            <a:prstDash val="solid"/>
          </a:ln>
        </p:spPr>
      </p:sp>
      <p:sp>
        <p:nvSpPr>
          <p:cNvPr id="24" name="step-115"/>
          <p:cNvSpPr/>
          <p:nvPr/>
        </p:nvSpPr>
        <p:spPr>
          <a:xfrm>
            <a:off x="5548579" y="1325880"/>
            <a:ext cx="1441094" cy="1554480"/>
          </a:xfrm>
          <a:prstGeom prst="roundRect">
            <a:avLst>
              <a:gd name="adj" fmla="val 5076"/>
            </a:avLst>
          </a:prstGeom>
          <a:solidFill>
            <a:schemeClr val="bg2"/>
          </a:solidFill>
          <a:ln w="12700">
            <a:solidFill>
              <a:schemeClr val="bg2"/>
            </a:solidFill>
            <a:prstDash val="solid"/>
          </a:ln>
        </p:spPr>
      </p:sp>
      <p:sp>
        <p:nvSpPr>
          <p:cNvPr id="25" name="num-116"/>
          <p:cNvSpPr/>
          <p:nvPr/>
        </p:nvSpPr>
        <p:spPr>
          <a:xfrm>
            <a:off x="5658307" y="1435608"/>
            <a:ext cx="329184" cy="329184"/>
          </a:xfrm>
          <a:prstGeom prst="ellipse">
            <a:avLst/>
          </a:prstGeom>
          <a:solidFill>
            <a:schemeClr val="accent3"/>
          </a:solidFill>
          <a:ln w="12700">
            <a:solidFill>
              <a:schemeClr val="accent3"/>
            </a:solidFill>
            <a:prstDash val="solid"/>
          </a:ln>
        </p:spPr>
      </p:sp>
      <p:sp>
        <p:nvSpPr>
          <p:cNvPr id="26" name="numtxt-117"/>
          <p:cNvSpPr txBox="1"/>
          <p:nvPr/>
        </p:nvSpPr>
        <p:spPr>
          <a:xfrm>
            <a:off x="5658307" y="143560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7" name="steptitle-118"/>
          <p:cNvSpPr txBox="1"/>
          <p:nvPr/>
        </p:nvSpPr>
        <p:spPr>
          <a:xfrm>
            <a:off x="5658307" y="1819656"/>
            <a:ext cx="1221638" cy="310896"/>
          </a:xfrm>
          <a:prstGeom prst="rect">
            <a:avLst/>
          </a:prstGeom>
          <a:noFill/>
          <a:ln/>
        </p:spPr>
        <p:txBody>
          <a:bodyPr wrap="square" lIns="0" tIns="0" rIns="0" bIns="0" rtlCol="0" anchor="t"/>
          <a:lstStyle/>
          <a:p>
            <a:pPr indent="0" marL="0">
              <a:buNone/>
            </a:pPr>
            <a:r>
              <a:rPr lang="en-US" sz="1300" b="1" dirty="0">
                <a:solidFill>
                  <a:schemeClr val="tx2"/>
                </a:solidFill>
              </a:rPr>
              <a:t>Quá hạn</a:t>
            </a:r>
            <a:endParaRPr lang="en-US" sz="1300" dirty="0"/>
          </a:p>
        </p:txBody>
      </p:sp>
      <p:sp>
        <p:nvSpPr>
          <p:cNvPr id="28" name="stepdesc-119"/>
          <p:cNvSpPr txBox="1"/>
          <p:nvPr/>
        </p:nvSpPr>
        <p:spPr>
          <a:xfrm>
            <a:off x="5658307" y="2130552"/>
            <a:ext cx="1221638" cy="685800"/>
          </a:xfrm>
          <a:prstGeom prst="rect">
            <a:avLst/>
          </a:prstGeom>
          <a:noFill/>
          <a:ln/>
        </p:spPr>
        <p:txBody>
          <a:bodyPr wrap="square" lIns="0" tIns="0" rIns="0" bIns="0" rtlCol="0" anchor="t"/>
          <a:lstStyle/>
          <a:p>
            <a:pPr indent="0" marL="0">
              <a:buNone/>
            </a:pPr>
            <a:r>
              <a:rPr lang="en-US" sz="1050" dirty="0">
                <a:solidFill>
                  <a:schemeClr val="tx1"/>
                </a:solidFill>
              </a:rPr>
              <a:t>Chưa nhắc được lần nào → hoãn 24h (tối đa 3 lần)</a:t>
            </a:r>
            <a:endParaRPr lang="en-US" sz="1050" dirty="0"/>
          </a:p>
        </p:txBody>
      </p:sp>
      <p:sp>
        <p:nvSpPr>
          <p:cNvPr id="29" name="arrow-120"/>
          <p:cNvSpPr/>
          <p:nvPr/>
        </p:nvSpPr>
        <p:spPr>
          <a:xfrm>
            <a:off x="7044538" y="2011680"/>
            <a:ext cx="146304" cy="182880"/>
          </a:xfrm>
          <a:prstGeom prst="chevron">
            <a:avLst/>
          </a:prstGeom>
          <a:solidFill>
            <a:schemeClr val="accent2"/>
          </a:solidFill>
          <a:ln w="12700">
            <a:solidFill>
              <a:schemeClr val="accent2"/>
            </a:solidFill>
            <a:prstDash val="solid"/>
          </a:ln>
        </p:spPr>
      </p:sp>
      <p:sp>
        <p:nvSpPr>
          <p:cNvPr id="30" name="step-121"/>
          <p:cNvSpPr/>
          <p:nvPr/>
        </p:nvSpPr>
        <p:spPr>
          <a:xfrm>
            <a:off x="7245706" y="1325880"/>
            <a:ext cx="1441094" cy="1554480"/>
          </a:xfrm>
          <a:prstGeom prst="roundRect">
            <a:avLst>
              <a:gd name="adj" fmla="val 5076"/>
            </a:avLst>
          </a:prstGeom>
          <a:solidFill>
            <a:schemeClr val="bg2"/>
          </a:solidFill>
          <a:ln w="12700">
            <a:solidFill>
              <a:schemeClr val="bg2"/>
            </a:solidFill>
            <a:prstDash val="solid"/>
          </a:ln>
        </p:spPr>
      </p:sp>
      <p:sp>
        <p:nvSpPr>
          <p:cNvPr id="31" name="num-122"/>
          <p:cNvSpPr/>
          <p:nvPr/>
        </p:nvSpPr>
        <p:spPr>
          <a:xfrm>
            <a:off x="7355434" y="1435608"/>
            <a:ext cx="329184" cy="329184"/>
          </a:xfrm>
          <a:prstGeom prst="ellipse">
            <a:avLst/>
          </a:prstGeom>
          <a:solidFill>
            <a:schemeClr val="accent3"/>
          </a:solidFill>
          <a:ln w="12700">
            <a:solidFill>
              <a:schemeClr val="accent3"/>
            </a:solidFill>
            <a:prstDash val="solid"/>
          </a:ln>
        </p:spPr>
      </p:sp>
      <p:sp>
        <p:nvSpPr>
          <p:cNvPr id="32" name="numtxt-123"/>
          <p:cNvSpPr txBox="1"/>
          <p:nvPr/>
        </p:nvSpPr>
        <p:spPr>
          <a:xfrm>
            <a:off x="7355434" y="143560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33" name="steptitle-124"/>
          <p:cNvSpPr txBox="1"/>
          <p:nvPr/>
        </p:nvSpPr>
        <p:spPr>
          <a:xfrm>
            <a:off x="7355434" y="1819656"/>
            <a:ext cx="1221638" cy="310896"/>
          </a:xfrm>
          <a:prstGeom prst="rect">
            <a:avLst/>
          </a:prstGeom>
          <a:noFill/>
          <a:ln/>
        </p:spPr>
        <p:txBody>
          <a:bodyPr wrap="square" lIns="0" tIns="0" rIns="0" bIns="0" rtlCol="0" anchor="t"/>
          <a:lstStyle/>
          <a:p>
            <a:pPr indent="0" marL="0">
              <a:buNone/>
            </a:pPr>
            <a:r>
              <a:rPr lang="en-US" sz="1300" b="1" dirty="0">
                <a:solidFill>
                  <a:schemeClr val="tx2"/>
                </a:solidFill>
              </a:rPr>
              <a:t>TRIGGERED</a:t>
            </a:r>
            <a:endParaRPr lang="en-US" sz="1300" dirty="0"/>
          </a:p>
        </p:txBody>
      </p:sp>
      <p:sp>
        <p:nvSpPr>
          <p:cNvPr id="34" name="stepdesc-125"/>
          <p:cNvSpPr txBox="1"/>
          <p:nvPr/>
        </p:nvSpPr>
        <p:spPr>
          <a:xfrm>
            <a:off x="7355434" y="2130552"/>
            <a:ext cx="1221638" cy="685800"/>
          </a:xfrm>
          <a:prstGeom prst="rect">
            <a:avLst/>
          </a:prstGeom>
          <a:noFill/>
          <a:ln/>
        </p:spPr>
        <p:txBody>
          <a:bodyPr wrap="square" lIns="0" tIns="0" rIns="0" bIns="0" rtlCol="0" anchor="t"/>
          <a:lstStyle/>
          <a:p>
            <a:pPr indent="0" marL="0">
              <a:buNone/>
            </a:pPr>
            <a:r>
              <a:rPr lang="en-US" sz="1050" dirty="0">
                <a:solidFill>
                  <a:schemeClr val="tx1"/>
                </a:solidFill>
              </a:rPr>
              <a:t>Ghi nhận TIMEOUT, chuyển sang luồng 4</a:t>
            </a:r>
            <a:endParaRPr lang="en-US" sz="1050" dirty="0"/>
          </a:p>
        </p:txBody>
      </p:sp>
      <p:sp>
        <p:nvSpPr>
          <p:cNvPr id="35" name="sched"/>
          <p:cNvSpPr/>
          <p:nvPr/>
        </p:nvSpPr>
        <p:spPr>
          <a:xfrm>
            <a:off x="457200" y="3063240"/>
            <a:ext cx="8229600" cy="685800"/>
          </a:xfrm>
          <a:prstGeom prst="roundRect">
            <a:avLst>
              <a:gd name="adj" fmla="val 10667"/>
            </a:avLst>
          </a:prstGeom>
          <a:solidFill>
            <a:schemeClr val="bg2"/>
          </a:solidFill>
          <a:ln w="12700">
            <a:solidFill>
              <a:schemeClr val="bg2"/>
            </a:solidFill>
            <a:prstDash val="solid"/>
          </a:ln>
        </p:spPr>
      </p:sp>
      <p:sp>
        <p:nvSpPr>
          <p:cNvPr id="36" name="schedtxt"/>
          <p:cNvSpPr txBox="1"/>
          <p:nvPr/>
        </p:nvSpPr>
        <p:spPr>
          <a:xfrm>
            <a:off x="640080" y="3063240"/>
            <a:ext cx="7863840" cy="685800"/>
          </a:xfrm>
          <a:prstGeom prst="rect">
            <a:avLst/>
          </a:prstGeom>
          <a:noFill/>
          <a:ln/>
        </p:spPr>
        <p:txBody>
          <a:bodyPr wrap="square" lIns="0" tIns="0" rIns="0" bIns="0" rtlCol="0" anchor="ctr"/>
          <a:lstStyle/>
          <a:p>
            <a:pPr indent="0" marL="0">
              <a:buNone/>
            </a:pPr>
            <a:r>
              <a:rPr lang="en-US" sz="1200" b="1" dirty="0">
                <a:solidFill>
                  <a:schemeClr val="tx2"/>
                </a:solidFill>
              </a:rPr>
              <a:t>Chạy tự động: </a:t>
            </a:r>
            <a:pPr indent="0" marL="0">
              <a:buNone/>
            </a:pPr>
            <a:r>
              <a:rPr lang="en-US" sz="1200" dirty="0">
                <a:solidFill>
                  <a:schemeClr val="tx1"/>
                </a:solidFill>
              </a:rPr>
              <a:t>scheduler quét DMS quá hạn mỗi 1 phút; Admin có thể tạm dừng (SUSPENDED) và tiếp tục DMS của một Owner.</a:t>
            </a:r>
            <a:endParaRPr lang="en-US" sz="1200" dirty="0"/>
          </a:p>
        </p:txBody>
      </p:sp>
      <p:sp>
        <p:nvSpPr>
          <p:cNvPr id="37" name="note-126"/>
          <p:cNvSpPr/>
          <p:nvPr/>
        </p:nvSpPr>
        <p:spPr>
          <a:xfrm>
            <a:off x="457200" y="3931920"/>
            <a:ext cx="8229600" cy="640080"/>
          </a:xfrm>
          <a:prstGeom prst="roundRect">
            <a:avLst>
              <a:gd name="adj" fmla="val 11429"/>
            </a:avLst>
          </a:prstGeom>
          <a:solidFill>
            <a:schemeClr val="accent6">
              <a:alpha val="45000"/>
            </a:schemeClr>
          </a:solidFill>
          <a:ln w="12700">
            <a:solidFill>
              <a:schemeClr val="accent6"/>
            </a:solidFill>
            <a:prstDash val="solid"/>
          </a:ln>
        </p:spPr>
      </p:sp>
      <p:sp>
        <p:nvSpPr>
          <p:cNvPr id="38" name="notetxt-127"/>
          <p:cNvSpPr txBox="1"/>
          <p:nvPr/>
        </p:nvSpPr>
        <p:spPr>
          <a:xfrm>
            <a:off x="640080" y="3931920"/>
            <a:ext cx="7863840" cy="640080"/>
          </a:xfrm>
          <a:prstGeom prst="rect">
            <a:avLst/>
          </a:prstGeom>
          <a:noFill/>
          <a:ln/>
        </p:spPr>
        <p:txBody>
          <a:bodyPr wrap="square" lIns="0" tIns="0" rIns="0" bIns="0" rtlCol="0" anchor="ctr"/>
          <a:lstStyle/>
          <a:p>
            <a:pPr indent="0" marL="0">
              <a:buNone/>
            </a:pPr>
            <a:r>
              <a:rPr lang="en-US" sz="1200" b="1" dirty="0">
                <a:solidFill>
                  <a:schemeClr val="tx2"/>
                </a:solidFill>
              </a:rPr>
              <a:t>Điểm nhấn: </a:t>
            </a:r>
            <a:pPr indent="0" marL="0">
              <a:buNone/>
            </a:pPr>
            <a:r>
              <a:rPr lang="en-US" sz="1200" dirty="0">
                <a:solidFill>
                  <a:schemeClr val="tx1"/>
                </a:solidFill>
              </a:rPr>
              <a:t>cơ chế hoãn 24 giờ chống kích hoạt nhầm khi mail nhắc chưa từng gửi được.</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498080" cy="566928"/>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Luồng 4 · Owner im lặng: kích hoạt Executor</a:t>
            </a:r>
            <a:endParaRPr lang="en-US" sz="2800" dirty="0"/>
          </a:p>
        </p:txBody>
      </p:sp>
      <p:sp>
        <p:nvSpPr>
          <p:cNvPr id="3" name="Text 0"/>
          <p:cNvSpPr/>
          <p:nvPr>
            <p:ph idx="101" type="body" hasCustomPrompt="1"/>
          </p:nvPr>
        </p:nvSpPr>
        <p:spPr>
          <a:xfrm>
            <a:off x="457200" y="804672"/>
            <a:ext cx="7498080" cy="365760"/>
          </a:xfrm>
          <a:prstGeom prst="rect">
            <a:avLst/>
          </a:prstGeom>
          <a:noFill/>
          <a:ln/>
        </p:spPr>
        <p:txBody>
          <a:bodyPr wrap="square" lIns="0" tIns="0" rIns="0" bIns="0" rtlCol="0" anchor="t"/>
          <a:lstStyle/>
          <a:p>
            <a:pPr algn="l" indent="0" marL="0">
              <a:buNone/>
            </a:pPr>
            <a:r>
              <a:rPr lang="en-US" sz="1400" dirty="0">
                <a:solidFill>
                  <a:schemeClr val="accent5"/>
                </a:solidFill>
                <a:latin typeface="Calibri" pitchFamily="34" charset="0"/>
                <a:ea typeface="Calibri" pitchFamily="34" charset="-122"/>
                <a:cs typeface="Calibri" pitchFamily="34" charset="-120"/>
              </a:rPr>
              <a:t>Không phụ thuộc vào một người duy nhất</a:t>
            </a:r>
            <a:endParaRPr lang="en-US" sz="1400" dirty="0"/>
          </a:p>
        </p:txBody>
      </p:sp>
      <p:sp>
        <p:nvSpPr>
          <p:cNvPr id="4" name="badge-128"/>
          <p:cNvSpPr/>
          <p:nvPr/>
        </p:nvSpPr>
        <p:spPr>
          <a:xfrm>
            <a:off x="8092440" y="274320"/>
            <a:ext cx="548640" cy="548640"/>
          </a:xfrm>
          <a:prstGeom prst="ellipse">
            <a:avLst/>
          </a:prstGeom>
          <a:solidFill>
            <a:schemeClr val="accent4"/>
          </a:solidFill>
          <a:ln w="12700">
            <a:solidFill>
              <a:schemeClr val="accent4"/>
            </a:solidFill>
            <a:prstDash val="solid"/>
          </a:ln>
        </p:spPr>
      </p:sp>
      <p:pic>
        <p:nvPicPr>
          <p:cNvPr id="5" name="icon-129" descr="icon">    </p:cNvPr>
          <p:cNvPicPr>
            <a:picLocks noChangeAspect="1"/>
          </p:cNvPicPr>
          <p:nvPr/>
        </p:nvPicPr>
        <p:blipFill>
          <a:blip r:embed="rId1"/>
          <a:stretch>
            <a:fillRect/>
          </a:stretch>
        </p:blipFill>
        <p:spPr>
          <a:xfrm>
            <a:off x="8202168" y="384048"/>
            <a:ext cx="329184" cy="329184"/>
          </a:xfrm>
          <a:prstGeom prst="rect">
            <a:avLst/>
          </a:prstGeom>
        </p:spPr>
      </p:pic>
      <p:sp>
        <p:nvSpPr>
          <p:cNvPr id="6" name="n1"/>
          <p:cNvSpPr/>
          <p:nvPr/>
        </p:nvSpPr>
        <p:spPr>
          <a:xfrm>
            <a:off x="457200" y="1371600"/>
            <a:ext cx="2011680" cy="868680"/>
          </a:xfrm>
          <a:prstGeom prst="roundRect">
            <a:avLst>
              <a:gd name="adj" fmla="val 8421"/>
            </a:avLst>
          </a:prstGeom>
          <a:solidFill>
            <a:schemeClr val="accent4">
              <a:alpha val="18000"/>
            </a:schemeClr>
          </a:solidFill>
          <a:ln w="15875">
            <a:solidFill>
              <a:schemeClr val="accent4"/>
            </a:solidFill>
            <a:prstDash val="solid"/>
          </a:ln>
        </p:spPr>
      </p:sp>
      <p:sp>
        <p:nvSpPr>
          <p:cNvPr id="7" name="n1txt"/>
          <p:cNvSpPr txBox="1"/>
          <p:nvPr/>
        </p:nvSpPr>
        <p:spPr>
          <a:xfrm>
            <a:off x="566928" y="1371600"/>
            <a:ext cx="1792224" cy="868680"/>
          </a:xfrm>
          <a:prstGeom prst="rect">
            <a:avLst/>
          </a:prstGeom>
          <a:noFill/>
          <a:ln/>
        </p:spPr>
        <p:txBody>
          <a:bodyPr wrap="square" lIns="0" tIns="0" rIns="0" bIns="0" rtlCol="0" anchor="ctr"/>
          <a:lstStyle/>
          <a:p>
            <a:pPr indent="0" marL="0">
              <a:buNone/>
            </a:pPr>
            <a:r>
              <a:rPr lang="en-US" sz="1250" b="1" dirty="0">
                <a:solidFill>
                  <a:schemeClr val="tx2"/>
                </a:solidFill>
              </a:rPr>
              <a:t>DMS TRIGGERED</a:t>
            </a:r>
            <a:endParaRPr lang="en-US" sz="1250" dirty="0"/>
          </a:p>
          <a:p>
            <a:pPr indent="0" marL="0">
              <a:buNone/>
            </a:pPr>
            <a:r>
              <a:rPr lang="en-US" sz="1050" dirty="0">
                <a:solidFill>
                  <a:schemeClr val="tx1"/>
                </a:solidFill>
              </a:rPr>
              <a:t>Kích hoạt Primary + mail có mã</a:t>
            </a:r>
            <a:endParaRPr lang="en-US" sz="1250" dirty="0"/>
          </a:p>
        </p:txBody>
      </p:sp>
      <p:sp>
        <p:nvSpPr>
          <p:cNvPr id="8" name="a1"/>
          <p:cNvSpPr/>
          <p:nvPr/>
        </p:nvSpPr>
        <p:spPr>
          <a:xfrm>
            <a:off x="2468880" y="1801368"/>
            <a:ext cx="411480" cy="0"/>
          </a:xfrm>
          <a:prstGeom prst="line">
            <a:avLst/>
          </a:prstGeom>
          <a:noFill/>
          <a:ln w="22225">
            <a:solidFill>
              <a:schemeClr val="accent2"/>
            </a:solidFill>
            <a:prstDash val="solid"/>
            <a:tailEnd type="triangle"/>
          </a:ln>
        </p:spPr>
      </p:sp>
      <p:sp>
        <p:nvSpPr>
          <p:cNvPr id="9" name="n2"/>
          <p:cNvSpPr/>
          <p:nvPr/>
        </p:nvSpPr>
        <p:spPr>
          <a:xfrm>
            <a:off x="2880360" y="1371600"/>
            <a:ext cx="2377440" cy="868680"/>
          </a:xfrm>
          <a:prstGeom prst="roundRect">
            <a:avLst>
              <a:gd name="adj" fmla="val 8421"/>
            </a:avLst>
          </a:prstGeom>
          <a:solidFill>
            <a:schemeClr val="accent1">
              <a:alpha val="18000"/>
            </a:schemeClr>
          </a:solidFill>
          <a:ln w="15875">
            <a:solidFill>
              <a:schemeClr val="accent1"/>
            </a:solidFill>
            <a:prstDash val="solid"/>
          </a:ln>
        </p:spPr>
      </p:sp>
      <p:sp>
        <p:nvSpPr>
          <p:cNvPr id="10" name="n2txt"/>
          <p:cNvSpPr txBox="1"/>
          <p:nvPr/>
        </p:nvSpPr>
        <p:spPr>
          <a:xfrm>
            <a:off x="2990088" y="1371600"/>
            <a:ext cx="2157984" cy="868680"/>
          </a:xfrm>
          <a:prstGeom prst="rect">
            <a:avLst/>
          </a:prstGeom>
          <a:noFill/>
          <a:ln/>
        </p:spPr>
        <p:txBody>
          <a:bodyPr wrap="square" lIns="0" tIns="0" rIns="0" bIns="0" rtlCol="0" anchor="ctr"/>
          <a:lstStyle/>
          <a:p>
            <a:pPr indent="0" marL="0">
              <a:buNone/>
            </a:pPr>
            <a:r>
              <a:rPr lang="en-US" sz="1250" b="1" dirty="0">
                <a:solidFill>
                  <a:schemeClr val="tx2"/>
                </a:solidFill>
              </a:rPr>
              <a:t>Primary acknowledge?</a:t>
            </a:r>
            <a:endParaRPr lang="en-US" sz="1250" dirty="0"/>
          </a:p>
          <a:p>
            <a:pPr indent="0" marL="0">
              <a:buNone/>
            </a:pPr>
            <a:r>
              <a:rPr lang="en-US" sz="1050" dirty="0">
                <a:solidFill>
                  <a:schemeClr val="tx1"/>
                </a:solidFill>
              </a:rPr>
              <a:t>Xác nhận đã nhận việc</a:t>
            </a:r>
            <a:endParaRPr lang="en-US" sz="1250" dirty="0"/>
          </a:p>
        </p:txBody>
      </p:sp>
      <p:sp>
        <p:nvSpPr>
          <p:cNvPr id="11" name="a2"/>
          <p:cNvSpPr/>
          <p:nvPr/>
        </p:nvSpPr>
        <p:spPr>
          <a:xfrm>
            <a:off x="5257800" y="1801368"/>
            <a:ext cx="411480" cy="0"/>
          </a:xfrm>
          <a:prstGeom prst="line">
            <a:avLst/>
          </a:prstGeom>
          <a:noFill/>
          <a:ln w="22225">
            <a:solidFill>
              <a:schemeClr val="accent2"/>
            </a:solidFill>
            <a:prstDash val="solid"/>
            <a:tailEnd type="triangle"/>
          </a:ln>
        </p:spPr>
      </p:sp>
      <p:sp>
        <p:nvSpPr>
          <p:cNvPr id="12" name="n3"/>
          <p:cNvSpPr/>
          <p:nvPr/>
        </p:nvSpPr>
        <p:spPr>
          <a:xfrm>
            <a:off x="5669280" y="1371600"/>
            <a:ext cx="3017520" cy="868680"/>
          </a:xfrm>
          <a:prstGeom prst="roundRect">
            <a:avLst>
              <a:gd name="adj" fmla="val 8421"/>
            </a:avLst>
          </a:prstGeom>
          <a:solidFill>
            <a:schemeClr val="accent3">
              <a:alpha val="18000"/>
            </a:schemeClr>
          </a:solidFill>
          <a:ln w="15875">
            <a:solidFill>
              <a:schemeClr val="accent3"/>
            </a:solidFill>
            <a:prstDash val="solid"/>
          </a:ln>
        </p:spPr>
      </p:sp>
      <p:sp>
        <p:nvSpPr>
          <p:cNvPr id="13" name="n3txt"/>
          <p:cNvSpPr txBox="1"/>
          <p:nvPr/>
        </p:nvSpPr>
        <p:spPr>
          <a:xfrm>
            <a:off x="5779008" y="1371600"/>
            <a:ext cx="2798064" cy="868680"/>
          </a:xfrm>
          <a:prstGeom prst="rect">
            <a:avLst/>
          </a:prstGeom>
          <a:noFill/>
          <a:ln/>
        </p:spPr>
        <p:txBody>
          <a:bodyPr wrap="square" lIns="0" tIns="0" rIns="0" bIns="0" rtlCol="0" anchor="ctr"/>
          <a:lstStyle/>
          <a:p>
            <a:pPr indent="0" marL="0">
              <a:buNone/>
            </a:pPr>
            <a:r>
              <a:rPr lang="en-US" sz="1250" b="1" dirty="0">
                <a:solidFill>
                  <a:schemeClr val="tx2"/>
                </a:solidFill>
              </a:rPr>
              <a:t>Có → sang luồng 5</a:t>
            </a:r>
            <a:endParaRPr lang="en-US" sz="1250" dirty="0"/>
          </a:p>
          <a:p>
            <a:pPr indent="0" marL="0">
              <a:buNone/>
            </a:pPr>
            <a:r>
              <a:rPr lang="en-US" sz="1050" dirty="0">
                <a:solidFill>
                  <a:schemeClr val="tx1"/>
                </a:solidFill>
              </a:rPr>
              <a:t>Primary xem danh sách vault (chỉ metadata)</a:t>
            </a:r>
            <a:endParaRPr lang="en-US" sz="1250" dirty="0"/>
          </a:p>
        </p:txBody>
      </p:sp>
      <p:sp>
        <p:nvSpPr>
          <p:cNvPr id="14" name="a3"/>
          <p:cNvSpPr/>
          <p:nvPr/>
        </p:nvSpPr>
        <p:spPr>
          <a:xfrm>
            <a:off x="4069080" y="2240280"/>
            <a:ext cx="0" cy="411480"/>
          </a:xfrm>
          <a:prstGeom prst="line">
            <a:avLst/>
          </a:prstGeom>
          <a:noFill/>
          <a:ln w="22225">
            <a:solidFill>
              <a:schemeClr val="accent2"/>
            </a:solidFill>
            <a:prstDash val="solid"/>
            <a:tailEnd type="triangle"/>
          </a:ln>
        </p:spPr>
      </p:sp>
      <p:sp>
        <p:nvSpPr>
          <p:cNvPr id="15" name="n4"/>
          <p:cNvSpPr/>
          <p:nvPr/>
        </p:nvSpPr>
        <p:spPr>
          <a:xfrm>
            <a:off x="2880360" y="2651760"/>
            <a:ext cx="2377440" cy="868680"/>
          </a:xfrm>
          <a:prstGeom prst="roundRect">
            <a:avLst>
              <a:gd name="adj" fmla="val 8421"/>
            </a:avLst>
          </a:prstGeom>
          <a:solidFill>
            <a:schemeClr val="accent2">
              <a:alpha val="18000"/>
            </a:schemeClr>
          </a:solidFill>
          <a:ln w="15875">
            <a:solidFill>
              <a:schemeClr val="accent2"/>
            </a:solidFill>
            <a:prstDash val="solid"/>
          </a:ln>
        </p:spPr>
      </p:sp>
      <p:sp>
        <p:nvSpPr>
          <p:cNvPr id="16" name="n4txt"/>
          <p:cNvSpPr txBox="1"/>
          <p:nvPr/>
        </p:nvSpPr>
        <p:spPr>
          <a:xfrm>
            <a:off x="2990088" y="2651760"/>
            <a:ext cx="2157984" cy="868680"/>
          </a:xfrm>
          <a:prstGeom prst="rect">
            <a:avLst/>
          </a:prstGeom>
          <a:noFill/>
          <a:ln/>
        </p:spPr>
        <p:txBody>
          <a:bodyPr wrap="square" lIns="0" tIns="0" rIns="0" bIns="0" rtlCol="0" anchor="ctr"/>
          <a:lstStyle/>
          <a:p>
            <a:pPr indent="0" marL="0">
              <a:buNone/>
            </a:pPr>
            <a:r>
              <a:rPr lang="en-US" sz="1250" b="1" dirty="0">
                <a:solidFill>
                  <a:schemeClr val="tx2"/>
                </a:solidFill>
              </a:rPr>
              <a:t>Không, quá 14 ngày</a:t>
            </a:r>
            <a:endParaRPr lang="en-US" sz="1250" dirty="0"/>
          </a:p>
          <a:p>
            <a:pPr indent="0" marL="0">
              <a:buNone/>
            </a:pPr>
            <a:r>
              <a:rPr lang="en-US" sz="1050" dirty="0">
                <a:solidFill>
                  <a:schemeClr val="tx1"/>
                </a:solidFill>
              </a:rPr>
              <a:t>Thu hồi Primary, kích hoạt Backup</a:t>
            </a:r>
            <a:endParaRPr lang="en-US" sz="1250" dirty="0"/>
          </a:p>
        </p:txBody>
      </p:sp>
      <p:sp>
        <p:nvSpPr>
          <p:cNvPr id="17" name="a4"/>
          <p:cNvSpPr/>
          <p:nvPr/>
        </p:nvSpPr>
        <p:spPr>
          <a:xfrm>
            <a:off x="5257800" y="3081528"/>
            <a:ext cx="411480" cy="0"/>
          </a:xfrm>
          <a:prstGeom prst="line">
            <a:avLst/>
          </a:prstGeom>
          <a:noFill/>
          <a:ln w="22225">
            <a:solidFill>
              <a:schemeClr val="accent2"/>
            </a:solidFill>
            <a:prstDash val="solid"/>
            <a:tailEnd type="triangle"/>
          </a:ln>
        </p:spPr>
      </p:sp>
      <p:sp>
        <p:nvSpPr>
          <p:cNvPr id="18" name="n5"/>
          <p:cNvSpPr/>
          <p:nvPr/>
        </p:nvSpPr>
        <p:spPr>
          <a:xfrm>
            <a:off x="5669280" y="2651760"/>
            <a:ext cx="3017520" cy="868680"/>
          </a:xfrm>
          <a:prstGeom prst="roundRect">
            <a:avLst>
              <a:gd name="adj" fmla="val 8421"/>
            </a:avLst>
          </a:prstGeom>
          <a:solidFill>
            <a:schemeClr val="accent5">
              <a:alpha val="18000"/>
            </a:schemeClr>
          </a:solidFill>
          <a:ln w="15875">
            <a:solidFill>
              <a:schemeClr val="accent5"/>
            </a:solidFill>
            <a:prstDash val="solid"/>
          </a:ln>
        </p:spPr>
      </p:sp>
      <p:sp>
        <p:nvSpPr>
          <p:cNvPr id="19" name="n5txt"/>
          <p:cNvSpPr txBox="1"/>
          <p:nvPr/>
        </p:nvSpPr>
        <p:spPr>
          <a:xfrm>
            <a:off x="5779008" y="2651760"/>
            <a:ext cx="2798064" cy="868680"/>
          </a:xfrm>
          <a:prstGeom prst="rect">
            <a:avLst/>
          </a:prstGeom>
          <a:noFill/>
          <a:ln/>
        </p:spPr>
        <p:txBody>
          <a:bodyPr wrap="square" lIns="0" tIns="0" rIns="0" bIns="0" rtlCol="0" anchor="ctr"/>
          <a:lstStyle/>
          <a:p>
            <a:pPr indent="0" marL="0">
              <a:buNone/>
            </a:pPr>
            <a:r>
              <a:rPr lang="en-US" sz="1250" b="1" dirty="0">
                <a:solidFill>
                  <a:schemeClr val="tx2"/>
                </a:solidFill>
              </a:rPr>
              <a:t>Không còn Executor dùng được</a:t>
            </a:r>
            <a:endParaRPr lang="en-US" sz="1250" dirty="0"/>
          </a:p>
          <a:p>
            <a:pPr indent="0" marL="0">
              <a:buNone/>
            </a:pPr>
            <a:r>
              <a:rPr lang="en-US" sz="1050" dirty="0">
                <a:solidFill>
                  <a:schemeClr val="tx1"/>
                </a:solidFill>
              </a:rPr>
              <a:t>Mail báo Admin → Admin gán Executor mới</a:t>
            </a:r>
            <a:endParaRPr lang="en-US" sz="1250" dirty="0"/>
          </a:p>
        </p:txBody>
      </p:sp>
      <p:sp>
        <p:nvSpPr>
          <p:cNvPr id="20" name="n6"/>
          <p:cNvSpPr/>
          <p:nvPr/>
        </p:nvSpPr>
        <p:spPr>
          <a:xfrm>
            <a:off x="457200" y="2651760"/>
            <a:ext cx="2011680" cy="868680"/>
          </a:xfrm>
          <a:prstGeom prst="roundRect">
            <a:avLst>
              <a:gd name="adj" fmla="val 8421"/>
            </a:avLst>
          </a:prstGeom>
          <a:solidFill>
            <a:schemeClr val="accent5">
              <a:alpha val="18000"/>
            </a:schemeClr>
          </a:solidFill>
          <a:ln w="15875">
            <a:solidFill>
              <a:schemeClr val="accent5"/>
            </a:solidFill>
            <a:prstDash val="solid"/>
          </a:ln>
        </p:spPr>
      </p:sp>
      <p:sp>
        <p:nvSpPr>
          <p:cNvPr id="21" name="n6txt"/>
          <p:cNvSpPr txBox="1"/>
          <p:nvPr/>
        </p:nvSpPr>
        <p:spPr>
          <a:xfrm>
            <a:off x="566928" y="2651760"/>
            <a:ext cx="1792224" cy="868680"/>
          </a:xfrm>
          <a:prstGeom prst="rect">
            <a:avLst/>
          </a:prstGeom>
          <a:noFill/>
          <a:ln/>
        </p:spPr>
        <p:txBody>
          <a:bodyPr wrap="square" lIns="0" tIns="0" rIns="0" bIns="0" rtlCol="0" anchor="ctr"/>
          <a:lstStyle/>
          <a:p>
            <a:pPr indent="0" marL="0">
              <a:buNone/>
            </a:pPr>
            <a:r>
              <a:rPr lang="en-US" sz="1250" b="1" dirty="0">
                <a:solidFill>
                  <a:schemeClr val="tx2"/>
                </a:solidFill>
              </a:rPr>
              <a:t>Gửi lại mail lỗi</a:t>
            </a:r>
            <a:endParaRPr lang="en-US" sz="1250" dirty="0"/>
          </a:p>
          <a:p>
            <a:pPr indent="0" marL="0">
              <a:buNone/>
            </a:pPr>
            <a:r>
              <a:rPr lang="en-US" sz="1050" dirty="0">
                <a:solidFill>
                  <a:schemeClr val="tx1"/>
                </a:solidFill>
              </a:rPr>
              <a:t>Thông báo FAILED được thử lại mỗi 5 phút</a:t>
            </a:r>
            <a:endParaRPr lang="en-US" sz="1250" dirty="0"/>
          </a:p>
        </p:txBody>
      </p:sp>
      <p:sp>
        <p:nvSpPr>
          <p:cNvPr id="22" name="note-130"/>
          <p:cNvSpPr/>
          <p:nvPr/>
        </p:nvSpPr>
        <p:spPr>
          <a:xfrm>
            <a:off x="457200" y="3931920"/>
            <a:ext cx="8229600" cy="640080"/>
          </a:xfrm>
          <a:prstGeom prst="roundRect">
            <a:avLst>
              <a:gd name="adj" fmla="val 11429"/>
            </a:avLst>
          </a:prstGeom>
          <a:solidFill>
            <a:schemeClr val="accent6">
              <a:alpha val="45000"/>
            </a:schemeClr>
          </a:solidFill>
          <a:ln w="12700">
            <a:solidFill>
              <a:schemeClr val="accent6"/>
            </a:solidFill>
            <a:prstDash val="solid"/>
          </a:ln>
        </p:spPr>
      </p:sp>
      <p:sp>
        <p:nvSpPr>
          <p:cNvPr id="23" name="notetxt-131"/>
          <p:cNvSpPr txBox="1"/>
          <p:nvPr/>
        </p:nvSpPr>
        <p:spPr>
          <a:xfrm>
            <a:off x="640080" y="3931920"/>
            <a:ext cx="7863840" cy="640080"/>
          </a:xfrm>
          <a:prstGeom prst="rect">
            <a:avLst/>
          </a:prstGeom>
          <a:noFill/>
          <a:ln/>
        </p:spPr>
        <p:txBody>
          <a:bodyPr wrap="square" lIns="0" tIns="0" rIns="0" bIns="0" rtlCol="0" anchor="ctr"/>
          <a:lstStyle/>
          <a:p>
            <a:pPr indent="0" marL="0">
              <a:buNone/>
            </a:pPr>
            <a:r>
              <a:rPr lang="en-US" sz="1200" b="1" dirty="0">
                <a:solidFill>
                  <a:schemeClr val="tx2"/>
                </a:solidFill>
              </a:rPr>
              <a:t>Điểm nhấn: </a:t>
            </a:r>
            <a:pPr indent="0" marL="0">
              <a:buNone/>
            </a:pPr>
            <a:r>
              <a:rPr lang="en-US" sz="1200" dirty="0">
                <a:solidFill>
                  <a:schemeClr val="tx1"/>
                </a:solidFill>
              </a:rPr>
              <a:t>Executor chỉ thấy tên và loại tài sản, không đọc được nội dung (quyền tối thiểu).</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498080" cy="566928"/>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Luồng 5 · Xác minh cái chết</a:t>
            </a:r>
            <a:endParaRPr lang="en-US" sz="2800" dirty="0"/>
          </a:p>
        </p:txBody>
      </p:sp>
      <p:sp>
        <p:nvSpPr>
          <p:cNvPr id="3" name="Text 0"/>
          <p:cNvSpPr/>
          <p:nvPr>
            <p:ph idx="101" type="body" hasCustomPrompt="1"/>
          </p:nvPr>
        </p:nvSpPr>
        <p:spPr>
          <a:xfrm>
            <a:off x="457200" y="804672"/>
            <a:ext cx="7498080" cy="365760"/>
          </a:xfrm>
          <a:prstGeom prst="rect">
            <a:avLst/>
          </a:prstGeom>
          <a:noFill/>
          <a:ln/>
        </p:spPr>
        <p:txBody>
          <a:bodyPr wrap="square" lIns="0" tIns="0" rIns="0" bIns="0" rtlCol="0" anchor="t"/>
          <a:lstStyle/>
          <a:p>
            <a:pPr algn="l" indent="0" marL="0">
              <a:buNone/>
            </a:pPr>
            <a:r>
              <a:rPr lang="en-US" sz="1400" dirty="0">
                <a:solidFill>
                  <a:schemeClr val="accent5"/>
                </a:solidFill>
                <a:latin typeface="Calibri" pitchFamily="34" charset="0"/>
                <a:ea typeface="Calibri" pitchFamily="34" charset="-122"/>
                <a:cs typeface="Calibri" pitchFamily="34" charset="-120"/>
              </a:rPr>
              <a:t>Không vault nào được mở nếu chưa có luật sư ký xác nhận</a:t>
            </a:r>
            <a:endParaRPr lang="en-US" sz="1400" dirty="0"/>
          </a:p>
        </p:txBody>
      </p:sp>
      <p:sp>
        <p:nvSpPr>
          <p:cNvPr id="4" name="badge-132"/>
          <p:cNvSpPr/>
          <p:nvPr/>
        </p:nvSpPr>
        <p:spPr>
          <a:xfrm>
            <a:off x="8092440" y="274320"/>
            <a:ext cx="548640" cy="548640"/>
          </a:xfrm>
          <a:prstGeom prst="ellipse">
            <a:avLst/>
          </a:prstGeom>
          <a:solidFill>
            <a:schemeClr val="accent1"/>
          </a:solidFill>
          <a:ln w="12700">
            <a:solidFill>
              <a:schemeClr val="accent1"/>
            </a:solidFill>
            <a:prstDash val="solid"/>
          </a:ln>
        </p:spPr>
      </p:sp>
      <p:pic>
        <p:nvPicPr>
          <p:cNvPr id="5" name="icon-133" descr="icon">    </p:cNvPr>
          <p:cNvPicPr>
            <a:picLocks noChangeAspect="1"/>
          </p:cNvPicPr>
          <p:nvPr/>
        </p:nvPicPr>
        <p:blipFill>
          <a:blip r:embed="rId1"/>
          <a:stretch>
            <a:fillRect/>
          </a:stretch>
        </p:blipFill>
        <p:spPr>
          <a:xfrm>
            <a:off x="8202168" y="384048"/>
            <a:ext cx="329184" cy="329184"/>
          </a:xfrm>
          <a:prstGeom prst="rect">
            <a:avLst/>
          </a:prstGeom>
        </p:spPr>
      </p:pic>
      <p:sp>
        <p:nvSpPr>
          <p:cNvPr id="6" name="step-134"/>
          <p:cNvSpPr/>
          <p:nvPr/>
        </p:nvSpPr>
        <p:spPr>
          <a:xfrm>
            <a:off x="457200" y="1325880"/>
            <a:ext cx="1441094" cy="1554480"/>
          </a:xfrm>
          <a:prstGeom prst="roundRect">
            <a:avLst>
              <a:gd name="adj" fmla="val 5076"/>
            </a:avLst>
          </a:prstGeom>
          <a:solidFill>
            <a:schemeClr val="bg2"/>
          </a:solidFill>
          <a:ln w="12700">
            <a:solidFill>
              <a:schemeClr val="bg2"/>
            </a:solidFill>
            <a:prstDash val="solid"/>
          </a:ln>
        </p:spPr>
      </p:sp>
      <p:sp>
        <p:nvSpPr>
          <p:cNvPr id="7" name="num-135"/>
          <p:cNvSpPr/>
          <p:nvPr/>
        </p:nvSpPr>
        <p:spPr>
          <a:xfrm>
            <a:off x="566928" y="1435608"/>
            <a:ext cx="329184" cy="329184"/>
          </a:xfrm>
          <a:prstGeom prst="ellipse">
            <a:avLst/>
          </a:prstGeom>
          <a:solidFill>
            <a:schemeClr val="accent1"/>
          </a:solidFill>
          <a:ln w="12700">
            <a:solidFill>
              <a:schemeClr val="accent1"/>
            </a:solidFill>
            <a:prstDash val="solid"/>
          </a:ln>
        </p:spPr>
      </p:sp>
      <p:sp>
        <p:nvSpPr>
          <p:cNvPr id="8" name="numtxt-136"/>
          <p:cNvSpPr txBox="1"/>
          <p:nvPr/>
        </p:nvSpPr>
        <p:spPr>
          <a:xfrm>
            <a:off x="566928" y="143560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9" name="steptitle-137"/>
          <p:cNvSpPr txBox="1"/>
          <p:nvPr/>
        </p:nvSpPr>
        <p:spPr>
          <a:xfrm>
            <a:off x="566928" y="1819656"/>
            <a:ext cx="1221638" cy="310896"/>
          </a:xfrm>
          <a:prstGeom prst="rect">
            <a:avLst/>
          </a:prstGeom>
          <a:noFill/>
          <a:ln/>
        </p:spPr>
        <p:txBody>
          <a:bodyPr wrap="square" lIns="0" tIns="0" rIns="0" bIns="0" rtlCol="0" anchor="t"/>
          <a:lstStyle/>
          <a:p>
            <a:pPr indent="0" marL="0">
              <a:buNone/>
            </a:pPr>
            <a:r>
              <a:rPr lang="en-US" sz="1300" b="1" dirty="0">
                <a:solidFill>
                  <a:schemeClr val="tx2"/>
                </a:solidFill>
              </a:rPr>
              <a:t>Executor nộp</a:t>
            </a:r>
            <a:endParaRPr lang="en-US" sz="1300" dirty="0"/>
          </a:p>
        </p:txBody>
      </p:sp>
      <p:sp>
        <p:nvSpPr>
          <p:cNvPr id="10" name="stepdesc-138"/>
          <p:cNvSpPr txBox="1"/>
          <p:nvPr/>
        </p:nvSpPr>
        <p:spPr>
          <a:xfrm>
            <a:off x="566928" y="2130552"/>
            <a:ext cx="1221638" cy="685800"/>
          </a:xfrm>
          <a:prstGeom prst="rect">
            <a:avLst/>
          </a:prstGeom>
          <a:noFill/>
          <a:ln/>
        </p:spPr>
        <p:txBody>
          <a:bodyPr wrap="square" lIns="0" tIns="0" rIns="0" bIns="0" rtlCol="0" anchor="t"/>
          <a:lstStyle/>
          <a:p>
            <a:pPr indent="0" marL="0">
              <a:buNone/>
            </a:pPr>
            <a:r>
              <a:rPr lang="en-US" sz="1050" dirty="0">
                <a:solidFill>
                  <a:schemeClr val="tx1"/>
                </a:solidFill>
              </a:rPr>
              <a:t>Giấy chứng tử + chọn vault; vault bị khoá sửa</a:t>
            </a:r>
            <a:endParaRPr lang="en-US" sz="1050" dirty="0"/>
          </a:p>
        </p:txBody>
      </p:sp>
      <p:sp>
        <p:nvSpPr>
          <p:cNvPr id="11" name="arrow-139"/>
          <p:cNvSpPr/>
          <p:nvPr/>
        </p:nvSpPr>
        <p:spPr>
          <a:xfrm>
            <a:off x="1953158" y="2011680"/>
            <a:ext cx="146304" cy="182880"/>
          </a:xfrm>
          <a:prstGeom prst="chevron">
            <a:avLst/>
          </a:prstGeom>
          <a:solidFill>
            <a:schemeClr val="accent2"/>
          </a:solidFill>
          <a:ln w="12700">
            <a:solidFill>
              <a:schemeClr val="accent2"/>
            </a:solidFill>
            <a:prstDash val="solid"/>
          </a:ln>
        </p:spPr>
      </p:sp>
      <p:sp>
        <p:nvSpPr>
          <p:cNvPr id="12" name="step-140"/>
          <p:cNvSpPr/>
          <p:nvPr/>
        </p:nvSpPr>
        <p:spPr>
          <a:xfrm>
            <a:off x="2154326" y="1325880"/>
            <a:ext cx="1441094" cy="1554480"/>
          </a:xfrm>
          <a:prstGeom prst="roundRect">
            <a:avLst>
              <a:gd name="adj" fmla="val 5076"/>
            </a:avLst>
          </a:prstGeom>
          <a:solidFill>
            <a:schemeClr val="bg2"/>
          </a:solidFill>
          <a:ln w="12700">
            <a:solidFill>
              <a:schemeClr val="bg2"/>
            </a:solidFill>
            <a:prstDash val="solid"/>
          </a:ln>
        </p:spPr>
      </p:sp>
      <p:sp>
        <p:nvSpPr>
          <p:cNvPr id="13" name="num-141"/>
          <p:cNvSpPr/>
          <p:nvPr/>
        </p:nvSpPr>
        <p:spPr>
          <a:xfrm>
            <a:off x="2264054" y="1435608"/>
            <a:ext cx="329184" cy="329184"/>
          </a:xfrm>
          <a:prstGeom prst="ellipse">
            <a:avLst/>
          </a:prstGeom>
          <a:solidFill>
            <a:schemeClr val="accent1"/>
          </a:solidFill>
          <a:ln w="12700">
            <a:solidFill>
              <a:schemeClr val="accent1"/>
            </a:solidFill>
            <a:prstDash val="solid"/>
          </a:ln>
        </p:spPr>
      </p:sp>
      <p:sp>
        <p:nvSpPr>
          <p:cNvPr id="14" name="numtxt-142"/>
          <p:cNvSpPr txBox="1"/>
          <p:nvPr/>
        </p:nvSpPr>
        <p:spPr>
          <a:xfrm>
            <a:off x="2264054" y="143560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5" name="steptitle-143"/>
          <p:cNvSpPr txBox="1"/>
          <p:nvPr/>
        </p:nvSpPr>
        <p:spPr>
          <a:xfrm>
            <a:off x="2264054" y="1819656"/>
            <a:ext cx="1221638" cy="310896"/>
          </a:xfrm>
          <a:prstGeom prst="rect">
            <a:avLst/>
          </a:prstGeom>
          <a:noFill/>
          <a:ln/>
        </p:spPr>
        <p:txBody>
          <a:bodyPr wrap="square" lIns="0" tIns="0" rIns="0" bIns="0" rtlCol="0" anchor="t"/>
          <a:lstStyle/>
          <a:p>
            <a:pPr indent="0" marL="0">
              <a:buNone/>
            </a:pPr>
            <a:r>
              <a:rPr lang="en-US" sz="1300" b="1" dirty="0">
                <a:solidFill>
                  <a:schemeClr val="tx2"/>
                </a:solidFill>
              </a:rPr>
              <a:t>Verifier xem</a:t>
            </a:r>
            <a:endParaRPr lang="en-US" sz="1300" dirty="0"/>
          </a:p>
        </p:txBody>
      </p:sp>
      <p:sp>
        <p:nvSpPr>
          <p:cNvPr id="16" name="stepdesc-144"/>
          <p:cNvSpPr txBox="1"/>
          <p:nvPr/>
        </p:nvSpPr>
        <p:spPr>
          <a:xfrm>
            <a:off x="2264054" y="2130552"/>
            <a:ext cx="1221638" cy="685800"/>
          </a:xfrm>
          <a:prstGeom prst="rect">
            <a:avLst/>
          </a:prstGeom>
          <a:noFill/>
          <a:ln/>
        </p:spPr>
        <p:txBody>
          <a:bodyPr wrap="square" lIns="0" tIns="0" rIns="0" bIns="0" rtlCol="0" anchor="t"/>
          <a:lstStyle/>
          <a:p>
            <a:pPr indent="0" marL="0">
              <a:buNone/>
            </a:pPr>
            <a:r>
              <a:rPr lang="en-US" sz="1050" dirty="0">
                <a:solidFill>
                  <a:schemeClr val="tx1"/>
                </a:solidFill>
              </a:rPr>
              <a:t>Mở tài liệu, checklist bắt buộc, nhắn tin hai chiều</a:t>
            </a:r>
            <a:endParaRPr lang="en-US" sz="1050" dirty="0"/>
          </a:p>
        </p:txBody>
      </p:sp>
      <p:sp>
        <p:nvSpPr>
          <p:cNvPr id="17" name="arrow-145"/>
          <p:cNvSpPr/>
          <p:nvPr/>
        </p:nvSpPr>
        <p:spPr>
          <a:xfrm>
            <a:off x="3650285" y="2011680"/>
            <a:ext cx="146304" cy="182880"/>
          </a:xfrm>
          <a:prstGeom prst="chevron">
            <a:avLst/>
          </a:prstGeom>
          <a:solidFill>
            <a:schemeClr val="accent2"/>
          </a:solidFill>
          <a:ln w="12700">
            <a:solidFill>
              <a:schemeClr val="accent2"/>
            </a:solidFill>
            <a:prstDash val="solid"/>
          </a:ln>
        </p:spPr>
      </p:sp>
      <p:sp>
        <p:nvSpPr>
          <p:cNvPr id="18" name="step-146"/>
          <p:cNvSpPr/>
          <p:nvPr/>
        </p:nvSpPr>
        <p:spPr>
          <a:xfrm>
            <a:off x="3851453" y="1325880"/>
            <a:ext cx="1441094" cy="1554480"/>
          </a:xfrm>
          <a:prstGeom prst="roundRect">
            <a:avLst>
              <a:gd name="adj" fmla="val 5076"/>
            </a:avLst>
          </a:prstGeom>
          <a:solidFill>
            <a:schemeClr val="bg2"/>
          </a:solidFill>
          <a:ln w="12700">
            <a:solidFill>
              <a:schemeClr val="bg2"/>
            </a:solidFill>
            <a:prstDash val="solid"/>
          </a:ln>
        </p:spPr>
      </p:sp>
      <p:sp>
        <p:nvSpPr>
          <p:cNvPr id="19" name="num-147"/>
          <p:cNvSpPr/>
          <p:nvPr/>
        </p:nvSpPr>
        <p:spPr>
          <a:xfrm>
            <a:off x="3961181" y="1435608"/>
            <a:ext cx="329184" cy="329184"/>
          </a:xfrm>
          <a:prstGeom prst="ellipse">
            <a:avLst/>
          </a:prstGeom>
          <a:solidFill>
            <a:schemeClr val="accent1"/>
          </a:solidFill>
          <a:ln w="12700">
            <a:solidFill>
              <a:schemeClr val="accent1"/>
            </a:solidFill>
            <a:prstDash val="solid"/>
          </a:ln>
        </p:spPr>
      </p:sp>
      <p:sp>
        <p:nvSpPr>
          <p:cNvPr id="20" name="numtxt-148"/>
          <p:cNvSpPr txBox="1"/>
          <p:nvPr/>
        </p:nvSpPr>
        <p:spPr>
          <a:xfrm>
            <a:off x="3961181" y="143560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21" name="steptitle-149"/>
          <p:cNvSpPr txBox="1"/>
          <p:nvPr/>
        </p:nvSpPr>
        <p:spPr>
          <a:xfrm>
            <a:off x="3961181" y="1819656"/>
            <a:ext cx="1221638" cy="310896"/>
          </a:xfrm>
          <a:prstGeom prst="rect">
            <a:avLst/>
          </a:prstGeom>
          <a:noFill/>
          <a:ln/>
        </p:spPr>
        <p:txBody>
          <a:bodyPr wrap="square" lIns="0" tIns="0" rIns="0" bIns="0" rtlCol="0" anchor="t"/>
          <a:lstStyle/>
          <a:p>
            <a:pPr indent="0" marL="0">
              <a:buNone/>
            </a:pPr>
            <a:r>
              <a:rPr lang="en-US" sz="1300" b="1" dirty="0">
                <a:solidFill>
                  <a:schemeClr val="tx2"/>
                </a:solidFill>
              </a:rPr>
              <a:t>Approve</a:t>
            </a:r>
            <a:endParaRPr lang="en-US" sz="1300" dirty="0"/>
          </a:p>
        </p:txBody>
      </p:sp>
      <p:sp>
        <p:nvSpPr>
          <p:cNvPr id="22" name="stepdesc-150"/>
          <p:cNvSpPr txBox="1"/>
          <p:nvPr/>
        </p:nvSpPr>
        <p:spPr>
          <a:xfrm>
            <a:off x="3961181" y="2130552"/>
            <a:ext cx="1221638" cy="685800"/>
          </a:xfrm>
          <a:prstGeom prst="rect">
            <a:avLst/>
          </a:prstGeom>
          <a:noFill/>
          <a:ln/>
        </p:spPr>
        <p:txBody>
          <a:bodyPr wrap="square" lIns="0" tIns="0" rIns="0" bIns="0" rtlCol="0" anchor="t"/>
          <a:lstStyle/>
          <a:p>
            <a:pPr indent="0" marL="0">
              <a:buNone/>
            </a:pPr>
            <a:r>
              <a:rPr lang="en-US" sz="1050" dirty="0">
                <a:solidFill>
                  <a:schemeClr val="tx1"/>
                </a:solidFill>
              </a:rPr>
              <a:t>Chờ ký; quá hạn không ký thì tự hết hạn</a:t>
            </a:r>
            <a:endParaRPr lang="en-US" sz="1050" dirty="0"/>
          </a:p>
        </p:txBody>
      </p:sp>
      <p:sp>
        <p:nvSpPr>
          <p:cNvPr id="23" name="arrow-151"/>
          <p:cNvSpPr/>
          <p:nvPr/>
        </p:nvSpPr>
        <p:spPr>
          <a:xfrm>
            <a:off x="5347411" y="2011680"/>
            <a:ext cx="146304" cy="182880"/>
          </a:xfrm>
          <a:prstGeom prst="chevron">
            <a:avLst/>
          </a:prstGeom>
          <a:solidFill>
            <a:schemeClr val="accent2"/>
          </a:solidFill>
          <a:ln w="12700">
            <a:solidFill>
              <a:schemeClr val="accent2"/>
            </a:solidFill>
            <a:prstDash val="solid"/>
          </a:ln>
        </p:spPr>
      </p:sp>
      <p:sp>
        <p:nvSpPr>
          <p:cNvPr id="24" name="step-152"/>
          <p:cNvSpPr/>
          <p:nvPr/>
        </p:nvSpPr>
        <p:spPr>
          <a:xfrm>
            <a:off x="5548579" y="1325880"/>
            <a:ext cx="1441094" cy="1554480"/>
          </a:xfrm>
          <a:prstGeom prst="roundRect">
            <a:avLst>
              <a:gd name="adj" fmla="val 5076"/>
            </a:avLst>
          </a:prstGeom>
          <a:solidFill>
            <a:schemeClr val="bg2"/>
          </a:solidFill>
          <a:ln w="12700">
            <a:solidFill>
              <a:schemeClr val="bg2"/>
            </a:solidFill>
            <a:prstDash val="solid"/>
          </a:ln>
        </p:spPr>
      </p:sp>
      <p:sp>
        <p:nvSpPr>
          <p:cNvPr id="25" name="num-153"/>
          <p:cNvSpPr/>
          <p:nvPr/>
        </p:nvSpPr>
        <p:spPr>
          <a:xfrm>
            <a:off x="5658307" y="1435608"/>
            <a:ext cx="329184" cy="329184"/>
          </a:xfrm>
          <a:prstGeom prst="ellipse">
            <a:avLst/>
          </a:prstGeom>
          <a:solidFill>
            <a:schemeClr val="accent1"/>
          </a:solidFill>
          <a:ln w="12700">
            <a:solidFill>
              <a:schemeClr val="accent1"/>
            </a:solidFill>
            <a:prstDash val="solid"/>
          </a:ln>
        </p:spPr>
      </p:sp>
      <p:sp>
        <p:nvSpPr>
          <p:cNvPr id="26" name="numtxt-154"/>
          <p:cNvSpPr txBox="1"/>
          <p:nvPr/>
        </p:nvSpPr>
        <p:spPr>
          <a:xfrm>
            <a:off x="5658307" y="143560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7" name="steptitle-155"/>
          <p:cNvSpPr txBox="1"/>
          <p:nvPr/>
        </p:nvSpPr>
        <p:spPr>
          <a:xfrm>
            <a:off x="5658307" y="1819656"/>
            <a:ext cx="1221638" cy="310896"/>
          </a:xfrm>
          <a:prstGeom prst="rect">
            <a:avLst/>
          </a:prstGeom>
          <a:noFill/>
          <a:ln/>
        </p:spPr>
        <p:txBody>
          <a:bodyPr wrap="square" lIns="0" tIns="0" rIns="0" bIns="0" rtlCol="0" anchor="t"/>
          <a:lstStyle/>
          <a:p>
            <a:pPr indent="0" marL="0">
              <a:buNone/>
            </a:pPr>
            <a:r>
              <a:rPr lang="en-US" sz="1300" b="1" dirty="0">
                <a:solidFill>
                  <a:schemeClr val="tx2"/>
                </a:solidFill>
              </a:rPr>
              <a:t>Ký bằng OTP</a:t>
            </a:r>
            <a:endParaRPr lang="en-US" sz="1300" dirty="0"/>
          </a:p>
        </p:txBody>
      </p:sp>
      <p:sp>
        <p:nvSpPr>
          <p:cNvPr id="28" name="stepdesc-156"/>
          <p:cNvSpPr txBox="1"/>
          <p:nvPr/>
        </p:nvSpPr>
        <p:spPr>
          <a:xfrm>
            <a:off x="5658307" y="2130552"/>
            <a:ext cx="1221638" cy="685800"/>
          </a:xfrm>
          <a:prstGeom prst="rect">
            <a:avLst/>
          </a:prstGeom>
          <a:noFill/>
          <a:ln/>
        </p:spPr>
        <p:txBody>
          <a:bodyPr wrap="square" lIns="0" tIns="0" rIns="0" bIns="0" rtlCol="0" anchor="t"/>
          <a:lstStyle/>
          <a:p>
            <a:pPr indent="0" marL="0">
              <a:buNone/>
            </a:pPr>
            <a:r>
              <a:rPr lang="en-US" sz="1050" dirty="0">
                <a:solidFill>
                  <a:schemeClr val="tx1"/>
                </a:solidFill>
              </a:rPr>
              <a:t>Mã qua mail, hết hạn sau 5 phút</a:t>
            </a:r>
            <a:endParaRPr lang="en-US" sz="1050" dirty="0"/>
          </a:p>
        </p:txBody>
      </p:sp>
      <p:sp>
        <p:nvSpPr>
          <p:cNvPr id="29" name="arrow-157"/>
          <p:cNvSpPr/>
          <p:nvPr/>
        </p:nvSpPr>
        <p:spPr>
          <a:xfrm>
            <a:off x="7044538" y="2011680"/>
            <a:ext cx="146304" cy="182880"/>
          </a:xfrm>
          <a:prstGeom prst="chevron">
            <a:avLst/>
          </a:prstGeom>
          <a:solidFill>
            <a:schemeClr val="accent2"/>
          </a:solidFill>
          <a:ln w="12700">
            <a:solidFill>
              <a:schemeClr val="accent2"/>
            </a:solidFill>
            <a:prstDash val="solid"/>
          </a:ln>
        </p:spPr>
      </p:sp>
      <p:sp>
        <p:nvSpPr>
          <p:cNvPr id="30" name="step-158"/>
          <p:cNvSpPr/>
          <p:nvPr/>
        </p:nvSpPr>
        <p:spPr>
          <a:xfrm>
            <a:off x="7245706" y="1325880"/>
            <a:ext cx="1441094" cy="1554480"/>
          </a:xfrm>
          <a:prstGeom prst="roundRect">
            <a:avLst>
              <a:gd name="adj" fmla="val 5076"/>
            </a:avLst>
          </a:prstGeom>
          <a:solidFill>
            <a:schemeClr val="bg2"/>
          </a:solidFill>
          <a:ln w="12700">
            <a:solidFill>
              <a:schemeClr val="bg2"/>
            </a:solidFill>
            <a:prstDash val="solid"/>
          </a:ln>
        </p:spPr>
      </p:sp>
      <p:sp>
        <p:nvSpPr>
          <p:cNvPr id="31" name="num-159"/>
          <p:cNvSpPr/>
          <p:nvPr/>
        </p:nvSpPr>
        <p:spPr>
          <a:xfrm>
            <a:off x="7355434" y="1435608"/>
            <a:ext cx="329184" cy="329184"/>
          </a:xfrm>
          <a:prstGeom prst="ellipse">
            <a:avLst/>
          </a:prstGeom>
          <a:solidFill>
            <a:schemeClr val="accent1"/>
          </a:solidFill>
          <a:ln w="12700">
            <a:solidFill>
              <a:schemeClr val="accent1"/>
            </a:solidFill>
            <a:prstDash val="solid"/>
          </a:ln>
        </p:spPr>
      </p:sp>
      <p:sp>
        <p:nvSpPr>
          <p:cNvPr id="32" name="numtxt-160"/>
          <p:cNvSpPr txBox="1"/>
          <p:nvPr/>
        </p:nvSpPr>
        <p:spPr>
          <a:xfrm>
            <a:off x="7355434" y="143560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33" name="steptitle-161"/>
          <p:cNvSpPr txBox="1"/>
          <p:nvPr/>
        </p:nvSpPr>
        <p:spPr>
          <a:xfrm>
            <a:off x="7355434" y="1819656"/>
            <a:ext cx="1221638" cy="310896"/>
          </a:xfrm>
          <a:prstGeom prst="rect">
            <a:avLst/>
          </a:prstGeom>
          <a:noFill/>
          <a:ln/>
        </p:spPr>
        <p:txBody>
          <a:bodyPr wrap="square" lIns="0" tIns="0" rIns="0" bIns="0" rtlCol="0" anchor="t"/>
          <a:lstStyle/>
          <a:p>
            <a:pPr indent="0" marL="0">
              <a:buNone/>
            </a:pPr>
            <a:r>
              <a:rPr lang="en-US" sz="1300" b="1" dirty="0">
                <a:solidFill>
                  <a:schemeClr val="tx2"/>
                </a:solidFill>
              </a:rPr>
              <a:t>UNLOCKED</a:t>
            </a:r>
            <a:endParaRPr lang="en-US" sz="1300" dirty="0"/>
          </a:p>
        </p:txBody>
      </p:sp>
      <p:sp>
        <p:nvSpPr>
          <p:cNvPr id="34" name="stepdesc-162"/>
          <p:cNvSpPr txBox="1"/>
          <p:nvPr/>
        </p:nvSpPr>
        <p:spPr>
          <a:xfrm>
            <a:off x="7355434" y="2130552"/>
            <a:ext cx="1221638" cy="685800"/>
          </a:xfrm>
          <a:prstGeom prst="rect">
            <a:avLst/>
          </a:prstGeom>
          <a:noFill/>
          <a:ln/>
        </p:spPr>
        <p:txBody>
          <a:bodyPr wrap="square" lIns="0" tIns="0" rIns="0" bIns="0" rtlCol="0" anchor="t"/>
          <a:lstStyle/>
          <a:p>
            <a:pPr indent="0" marL="0">
              <a:buNone/>
            </a:pPr>
            <a:r>
              <a:rPr lang="en-US" sz="1050" dirty="0">
                <a:solidFill>
                  <a:schemeClr val="tx1"/>
                </a:solidFill>
              </a:rPr>
              <a:t>Phát sự kiện mở khoá → luồng 6</a:t>
            </a:r>
            <a:endParaRPr lang="en-US" sz="1050" dirty="0"/>
          </a:p>
        </p:txBody>
      </p:sp>
      <p:sp>
        <p:nvSpPr>
          <p:cNvPr id="35" name="reject"/>
          <p:cNvSpPr/>
          <p:nvPr/>
        </p:nvSpPr>
        <p:spPr>
          <a:xfrm>
            <a:off x="457200" y="3063240"/>
            <a:ext cx="8229600" cy="685800"/>
          </a:xfrm>
          <a:prstGeom prst="roundRect">
            <a:avLst>
              <a:gd name="adj" fmla="val 10667"/>
            </a:avLst>
          </a:prstGeom>
          <a:solidFill>
            <a:schemeClr val="accent4">
              <a:alpha val="15000"/>
            </a:schemeClr>
          </a:solidFill>
          <a:ln w="12700">
            <a:solidFill>
              <a:schemeClr val="accent4"/>
            </a:solidFill>
            <a:prstDash val="solid"/>
          </a:ln>
        </p:spPr>
      </p:sp>
      <p:sp>
        <p:nvSpPr>
          <p:cNvPr id="36" name="rejecttxt"/>
          <p:cNvSpPr txBox="1"/>
          <p:nvPr/>
        </p:nvSpPr>
        <p:spPr>
          <a:xfrm>
            <a:off x="640080" y="3063240"/>
            <a:ext cx="7863840" cy="685800"/>
          </a:xfrm>
          <a:prstGeom prst="rect">
            <a:avLst/>
          </a:prstGeom>
          <a:noFill/>
          <a:ln/>
        </p:spPr>
        <p:txBody>
          <a:bodyPr wrap="square" lIns="0" tIns="0" rIns="0" bIns="0" rtlCol="0" anchor="ctr"/>
          <a:lstStyle/>
          <a:p>
            <a:pPr indent="0" marL="0">
              <a:buNone/>
            </a:pPr>
            <a:r>
              <a:rPr lang="en-US" sz="1200" b="1" dirty="0">
                <a:solidFill>
                  <a:schemeClr val="accent4"/>
                </a:solidFill>
              </a:rPr>
              <a:t>Nhánh từ chối: </a:t>
            </a:r>
            <a:pPr indent="0" marL="0">
              <a:buNone/>
            </a:pPr>
            <a:r>
              <a:rPr lang="en-US" sz="1200" dirty="0">
                <a:solidFill>
                  <a:schemeClr val="tx1"/>
                </a:solidFill>
              </a:rPr>
              <a:t>Reject kèm lý do chuẩn → Executor nhận mail, hồ sơ đóng (ngừng nhắn tin) → nộp hồ sơ mới.</a:t>
            </a:r>
            <a:endParaRPr lang="en-US" sz="1200" dirty="0"/>
          </a:p>
        </p:txBody>
      </p:sp>
      <p:sp>
        <p:nvSpPr>
          <p:cNvPr id="37" name="note-163"/>
          <p:cNvSpPr/>
          <p:nvPr/>
        </p:nvSpPr>
        <p:spPr>
          <a:xfrm>
            <a:off x="457200" y="3931920"/>
            <a:ext cx="8229600" cy="640080"/>
          </a:xfrm>
          <a:prstGeom prst="roundRect">
            <a:avLst>
              <a:gd name="adj" fmla="val 11429"/>
            </a:avLst>
          </a:prstGeom>
          <a:solidFill>
            <a:schemeClr val="accent6">
              <a:alpha val="45000"/>
            </a:schemeClr>
          </a:solidFill>
          <a:ln w="12700">
            <a:solidFill>
              <a:schemeClr val="accent6"/>
            </a:solidFill>
            <a:prstDash val="solid"/>
          </a:ln>
        </p:spPr>
      </p:sp>
      <p:sp>
        <p:nvSpPr>
          <p:cNvPr id="38" name="notetxt-164"/>
          <p:cNvSpPr txBox="1"/>
          <p:nvPr/>
        </p:nvSpPr>
        <p:spPr>
          <a:xfrm>
            <a:off x="640080" y="3931920"/>
            <a:ext cx="7863840" cy="640080"/>
          </a:xfrm>
          <a:prstGeom prst="rect">
            <a:avLst/>
          </a:prstGeom>
          <a:noFill/>
          <a:ln/>
        </p:spPr>
        <p:txBody>
          <a:bodyPr wrap="square" lIns="0" tIns="0" rIns="0" bIns="0" rtlCol="0" anchor="ctr"/>
          <a:lstStyle/>
          <a:p>
            <a:pPr indent="0" marL="0">
              <a:buNone/>
            </a:pPr>
            <a:r>
              <a:rPr lang="en-US" sz="1200" b="1" dirty="0">
                <a:solidFill>
                  <a:schemeClr val="tx2"/>
                </a:solidFill>
              </a:rPr>
              <a:t>Điểm nhấn: </a:t>
            </a:r>
            <a:pPr indent="0" marL="0">
              <a:buNone/>
            </a:pPr>
            <a:r>
              <a:rPr lang="en-US" sz="1200" dirty="0">
                <a:solidFill>
                  <a:schemeClr val="tx1"/>
                </a:solidFill>
              </a:rPr>
              <a:t>Verifier không thể là Executor hay người thụ hưởng của cùng Owner (chặn xung đột lợi ích).</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498080" cy="566928"/>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Luồng 6 · Bàn giao cho người thụ hưởng</a:t>
            </a:r>
            <a:endParaRPr lang="en-US" sz="2800" dirty="0"/>
          </a:p>
        </p:txBody>
      </p:sp>
      <p:sp>
        <p:nvSpPr>
          <p:cNvPr id="3" name="Text 0"/>
          <p:cNvSpPr/>
          <p:nvPr>
            <p:ph idx="101" type="body" hasCustomPrompt="1"/>
          </p:nvPr>
        </p:nvSpPr>
        <p:spPr>
          <a:xfrm>
            <a:off x="457200" y="804672"/>
            <a:ext cx="7498080" cy="365760"/>
          </a:xfrm>
          <a:prstGeom prst="rect">
            <a:avLst/>
          </a:prstGeom>
          <a:noFill/>
          <a:ln/>
        </p:spPr>
        <p:txBody>
          <a:bodyPr wrap="square" lIns="0" tIns="0" rIns="0" bIns="0" rtlCol="0" anchor="t"/>
          <a:lstStyle/>
          <a:p>
            <a:pPr algn="l" indent="0" marL="0">
              <a:buNone/>
            </a:pPr>
            <a:r>
              <a:rPr lang="en-US" sz="1400" dirty="0">
                <a:solidFill>
                  <a:schemeClr val="accent5"/>
                </a:solidFill>
                <a:latin typeface="Calibri" pitchFamily="34" charset="0"/>
                <a:ea typeface="Calibri" pitchFamily="34" charset="-122"/>
                <a:cs typeface="Calibri" pitchFamily="34" charset="-120"/>
              </a:rPr>
              <a:t>Đúng người, đúng tài sản, và không lưu lâu hơn cần thiết</a:t>
            </a:r>
            <a:endParaRPr lang="en-US" sz="1400" dirty="0"/>
          </a:p>
        </p:txBody>
      </p:sp>
      <p:sp>
        <p:nvSpPr>
          <p:cNvPr id="4" name="badge-165"/>
          <p:cNvSpPr/>
          <p:nvPr/>
        </p:nvSpPr>
        <p:spPr>
          <a:xfrm>
            <a:off x="8092440" y="274320"/>
            <a:ext cx="548640" cy="548640"/>
          </a:xfrm>
          <a:prstGeom prst="ellipse">
            <a:avLst/>
          </a:prstGeom>
          <a:solidFill>
            <a:schemeClr val="accent3"/>
          </a:solidFill>
          <a:ln w="12700">
            <a:solidFill>
              <a:schemeClr val="accent3"/>
            </a:solidFill>
            <a:prstDash val="solid"/>
          </a:ln>
        </p:spPr>
      </p:sp>
      <p:pic>
        <p:nvPicPr>
          <p:cNvPr id="5" name="icon-166" descr="icon">    </p:cNvPr>
          <p:cNvPicPr>
            <a:picLocks noChangeAspect="1"/>
          </p:cNvPicPr>
          <p:nvPr/>
        </p:nvPicPr>
        <p:blipFill>
          <a:blip r:embed="rId1"/>
          <a:stretch>
            <a:fillRect/>
          </a:stretch>
        </p:blipFill>
        <p:spPr>
          <a:xfrm>
            <a:off x="8202168" y="384048"/>
            <a:ext cx="329184" cy="329184"/>
          </a:xfrm>
          <a:prstGeom prst="rect">
            <a:avLst/>
          </a:prstGeom>
        </p:spPr>
      </p:pic>
      <p:sp>
        <p:nvSpPr>
          <p:cNvPr id="6" name="step-167"/>
          <p:cNvSpPr/>
          <p:nvPr/>
        </p:nvSpPr>
        <p:spPr>
          <a:xfrm>
            <a:off x="457200" y="1325880"/>
            <a:ext cx="1441094" cy="1554480"/>
          </a:xfrm>
          <a:prstGeom prst="roundRect">
            <a:avLst>
              <a:gd name="adj" fmla="val 5076"/>
            </a:avLst>
          </a:prstGeom>
          <a:solidFill>
            <a:schemeClr val="bg2"/>
          </a:solidFill>
          <a:ln w="12700">
            <a:solidFill>
              <a:schemeClr val="bg2"/>
            </a:solidFill>
            <a:prstDash val="solid"/>
          </a:ln>
        </p:spPr>
      </p:sp>
      <p:sp>
        <p:nvSpPr>
          <p:cNvPr id="7" name="num-168"/>
          <p:cNvSpPr/>
          <p:nvPr/>
        </p:nvSpPr>
        <p:spPr>
          <a:xfrm>
            <a:off x="566928" y="1435608"/>
            <a:ext cx="329184" cy="329184"/>
          </a:xfrm>
          <a:prstGeom prst="ellipse">
            <a:avLst/>
          </a:prstGeom>
          <a:solidFill>
            <a:schemeClr val="accent3"/>
          </a:solidFill>
          <a:ln w="12700">
            <a:solidFill>
              <a:schemeClr val="accent3"/>
            </a:solidFill>
            <a:prstDash val="solid"/>
          </a:ln>
        </p:spPr>
      </p:sp>
      <p:sp>
        <p:nvSpPr>
          <p:cNvPr id="8" name="numtxt-169"/>
          <p:cNvSpPr txBox="1"/>
          <p:nvPr/>
        </p:nvSpPr>
        <p:spPr>
          <a:xfrm>
            <a:off x="566928" y="143560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9" name="steptitle-170"/>
          <p:cNvSpPr txBox="1"/>
          <p:nvPr/>
        </p:nvSpPr>
        <p:spPr>
          <a:xfrm>
            <a:off x="566928" y="1819656"/>
            <a:ext cx="1221638" cy="310896"/>
          </a:xfrm>
          <a:prstGeom prst="rect">
            <a:avLst/>
          </a:prstGeom>
          <a:noFill/>
          <a:ln/>
        </p:spPr>
        <p:txBody>
          <a:bodyPr wrap="square" lIns="0" tIns="0" rIns="0" bIns="0" rtlCol="0" anchor="t"/>
          <a:lstStyle/>
          <a:p>
            <a:pPr indent="0" marL="0">
              <a:buNone/>
            </a:pPr>
            <a:r>
              <a:rPr lang="en-US" sz="1300" b="1" dirty="0">
                <a:solidFill>
                  <a:schemeClr val="tx2"/>
                </a:solidFill>
              </a:rPr>
              <a:t>Thông báo</a:t>
            </a:r>
            <a:endParaRPr lang="en-US" sz="1300" dirty="0"/>
          </a:p>
        </p:txBody>
      </p:sp>
      <p:sp>
        <p:nvSpPr>
          <p:cNvPr id="10" name="stepdesc-171"/>
          <p:cNvSpPr txBox="1"/>
          <p:nvPr/>
        </p:nvSpPr>
        <p:spPr>
          <a:xfrm>
            <a:off x="566928" y="2130552"/>
            <a:ext cx="1221638" cy="685800"/>
          </a:xfrm>
          <a:prstGeom prst="rect">
            <a:avLst/>
          </a:prstGeom>
          <a:noFill/>
          <a:ln/>
        </p:spPr>
        <p:txBody>
          <a:bodyPr wrap="square" lIns="0" tIns="0" rIns="0" bIns="0" rtlCol="0" anchor="t"/>
          <a:lstStyle/>
          <a:p>
            <a:pPr indent="0" marL="0">
              <a:buNone/>
            </a:pPr>
            <a:r>
              <a:rPr lang="en-US" sz="1050" dirty="0">
                <a:solidFill>
                  <a:schemeClr val="tx1"/>
                </a:solidFill>
              </a:rPr>
              <a:t>Mail + chuông trong app, có thử lại khi lỗi</a:t>
            </a:r>
            <a:endParaRPr lang="en-US" sz="1050" dirty="0"/>
          </a:p>
        </p:txBody>
      </p:sp>
      <p:sp>
        <p:nvSpPr>
          <p:cNvPr id="11" name="arrow-172"/>
          <p:cNvSpPr/>
          <p:nvPr/>
        </p:nvSpPr>
        <p:spPr>
          <a:xfrm>
            <a:off x="1953158" y="2011680"/>
            <a:ext cx="146304" cy="182880"/>
          </a:xfrm>
          <a:prstGeom prst="chevron">
            <a:avLst/>
          </a:prstGeom>
          <a:solidFill>
            <a:schemeClr val="accent2"/>
          </a:solidFill>
          <a:ln w="12700">
            <a:solidFill>
              <a:schemeClr val="accent2"/>
            </a:solidFill>
            <a:prstDash val="solid"/>
          </a:ln>
        </p:spPr>
      </p:sp>
      <p:sp>
        <p:nvSpPr>
          <p:cNvPr id="12" name="step-173"/>
          <p:cNvSpPr/>
          <p:nvPr/>
        </p:nvSpPr>
        <p:spPr>
          <a:xfrm>
            <a:off x="2154326" y="1325880"/>
            <a:ext cx="1441094" cy="1554480"/>
          </a:xfrm>
          <a:prstGeom prst="roundRect">
            <a:avLst>
              <a:gd name="adj" fmla="val 5076"/>
            </a:avLst>
          </a:prstGeom>
          <a:solidFill>
            <a:schemeClr val="bg2"/>
          </a:solidFill>
          <a:ln w="12700">
            <a:solidFill>
              <a:schemeClr val="bg2"/>
            </a:solidFill>
            <a:prstDash val="solid"/>
          </a:ln>
        </p:spPr>
      </p:sp>
      <p:sp>
        <p:nvSpPr>
          <p:cNvPr id="13" name="num-174"/>
          <p:cNvSpPr/>
          <p:nvPr/>
        </p:nvSpPr>
        <p:spPr>
          <a:xfrm>
            <a:off x="2264054" y="1435608"/>
            <a:ext cx="329184" cy="329184"/>
          </a:xfrm>
          <a:prstGeom prst="ellipse">
            <a:avLst/>
          </a:prstGeom>
          <a:solidFill>
            <a:schemeClr val="accent3"/>
          </a:solidFill>
          <a:ln w="12700">
            <a:solidFill>
              <a:schemeClr val="accent3"/>
            </a:solidFill>
            <a:prstDash val="solid"/>
          </a:ln>
        </p:spPr>
      </p:sp>
      <p:sp>
        <p:nvSpPr>
          <p:cNvPr id="14" name="numtxt-175"/>
          <p:cNvSpPr txBox="1"/>
          <p:nvPr/>
        </p:nvSpPr>
        <p:spPr>
          <a:xfrm>
            <a:off x="2264054" y="143560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5" name="steptitle-176"/>
          <p:cNvSpPr txBox="1"/>
          <p:nvPr/>
        </p:nvSpPr>
        <p:spPr>
          <a:xfrm>
            <a:off x="2264054" y="1819656"/>
            <a:ext cx="1221638" cy="310896"/>
          </a:xfrm>
          <a:prstGeom prst="rect">
            <a:avLst/>
          </a:prstGeom>
          <a:noFill/>
          <a:ln/>
        </p:spPr>
        <p:txBody>
          <a:bodyPr wrap="square" lIns="0" tIns="0" rIns="0" bIns="0" rtlCol="0" anchor="t"/>
          <a:lstStyle/>
          <a:p>
            <a:pPr indent="0" marL="0">
              <a:buNone/>
            </a:pPr>
            <a:r>
              <a:rPr lang="en-US" sz="1300" b="1" dirty="0">
                <a:solidFill>
                  <a:schemeClr val="tx2"/>
                </a:solidFill>
              </a:rPr>
              <a:t>Xác minh</a:t>
            </a:r>
            <a:endParaRPr lang="en-US" sz="1300" dirty="0"/>
          </a:p>
        </p:txBody>
      </p:sp>
      <p:sp>
        <p:nvSpPr>
          <p:cNvPr id="16" name="stepdesc-177"/>
          <p:cNvSpPr txBox="1"/>
          <p:nvPr/>
        </p:nvSpPr>
        <p:spPr>
          <a:xfrm>
            <a:off x="2264054" y="2130552"/>
            <a:ext cx="1221638" cy="685800"/>
          </a:xfrm>
          <a:prstGeom prst="rect">
            <a:avLst/>
          </a:prstGeom>
          <a:noFill/>
          <a:ln/>
        </p:spPr>
        <p:txBody>
          <a:bodyPr wrap="square" lIns="0" tIns="0" rIns="0" bIns="0" rtlCol="0" anchor="t"/>
          <a:lstStyle/>
          <a:p>
            <a:pPr indent="0" marL="0">
              <a:buNone/>
            </a:pPr>
            <a:r>
              <a:rPr lang="en-US" sz="1050" dirty="0">
                <a:solidFill>
                  <a:schemeClr val="tx1"/>
                </a:solidFill>
              </a:rPr>
              <a:t>OTP qua email + CCCD (eKYC mock)</a:t>
            </a:r>
            <a:endParaRPr lang="en-US" sz="1050" dirty="0"/>
          </a:p>
        </p:txBody>
      </p:sp>
      <p:sp>
        <p:nvSpPr>
          <p:cNvPr id="17" name="arrow-178"/>
          <p:cNvSpPr/>
          <p:nvPr/>
        </p:nvSpPr>
        <p:spPr>
          <a:xfrm>
            <a:off x="3650285" y="2011680"/>
            <a:ext cx="146304" cy="182880"/>
          </a:xfrm>
          <a:prstGeom prst="chevron">
            <a:avLst/>
          </a:prstGeom>
          <a:solidFill>
            <a:schemeClr val="accent2"/>
          </a:solidFill>
          <a:ln w="12700">
            <a:solidFill>
              <a:schemeClr val="accent2"/>
            </a:solidFill>
            <a:prstDash val="solid"/>
          </a:ln>
        </p:spPr>
      </p:sp>
      <p:sp>
        <p:nvSpPr>
          <p:cNvPr id="18" name="step-179"/>
          <p:cNvSpPr/>
          <p:nvPr/>
        </p:nvSpPr>
        <p:spPr>
          <a:xfrm>
            <a:off x="3851453" y="1325880"/>
            <a:ext cx="1441094" cy="1554480"/>
          </a:xfrm>
          <a:prstGeom prst="roundRect">
            <a:avLst>
              <a:gd name="adj" fmla="val 5076"/>
            </a:avLst>
          </a:prstGeom>
          <a:solidFill>
            <a:schemeClr val="bg2"/>
          </a:solidFill>
          <a:ln w="12700">
            <a:solidFill>
              <a:schemeClr val="bg2"/>
            </a:solidFill>
            <a:prstDash val="solid"/>
          </a:ln>
        </p:spPr>
      </p:sp>
      <p:sp>
        <p:nvSpPr>
          <p:cNvPr id="19" name="num-180"/>
          <p:cNvSpPr/>
          <p:nvPr/>
        </p:nvSpPr>
        <p:spPr>
          <a:xfrm>
            <a:off x="3961181" y="1435608"/>
            <a:ext cx="329184" cy="329184"/>
          </a:xfrm>
          <a:prstGeom prst="ellipse">
            <a:avLst/>
          </a:prstGeom>
          <a:solidFill>
            <a:schemeClr val="accent3"/>
          </a:solidFill>
          <a:ln w="12700">
            <a:solidFill>
              <a:schemeClr val="accent3"/>
            </a:solidFill>
            <a:prstDash val="solid"/>
          </a:ln>
        </p:spPr>
      </p:sp>
      <p:sp>
        <p:nvSpPr>
          <p:cNvPr id="20" name="numtxt-181"/>
          <p:cNvSpPr txBox="1"/>
          <p:nvPr/>
        </p:nvSpPr>
        <p:spPr>
          <a:xfrm>
            <a:off x="3961181" y="143560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21" name="steptitle-182"/>
          <p:cNvSpPr txBox="1"/>
          <p:nvPr/>
        </p:nvSpPr>
        <p:spPr>
          <a:xfrm>
            <a:off x="3961181" y="1819656"/>
            <a:ext cx="1221638" cy="310896"/>
          </a:xfrm>
          <a:prstGeom prst="rect">
            <a:avLst/>
          </a:prstGeom>
          <a:noFill/>
          <a:ln/>
        </p:spPr>
        <p:txBody>
          <a:bodyPr wrap="square" lIns="0" tIns="0" rIns="0" bIns="0" rtlCol="0" anchor="t"/>
          <a:lstStyle/>
          <a:p>
            <a:pPr indent="0" marL="0">
              <a:buNone/>
            </a:pPr>
            <a:r>
              <a:rPr lang="en-US" sz="1300" b="1" dirty="0">
                <a:solidFill>
                  <a:schemeClr val="tx2"/>
                </a:solidFill>
              </a:rPr>
              <a:t>Nhận vault</a:t>
            </a:r>
            <a:endParaRPr lang="en-US" sz="1300" dirty="0"/>
          </a:p>
        </p:txBody>
      </p:sp>
      <p:sp>
        <p:nvSpPr>
          <p:cNvPr id="22" name="stepdesc-183"/>
          <p:cNvSpPr txBox="1"/>
          <p:nvPr/>
        </p:nvSpPr>
        <p:spPr>
          <a:xfrm>
            <a:off x="3961181" y="2130552"/>
            <a:ext cx="1221638" cy="685800"/>
          </a:xfrm>
          <a:prstGeom prst="rect">
            <a:avLst/>
          </a:prstGeom>
          <a:noFill/>
          <a:ln/>
        </p:spPr>
        <p:txBody>
          <a:bodyPr wrap="square" lIns="0" tIns="0" rIns="0" bIns="0" rtlCol="0" anchor="t"/>
          <a:lstStyle/>
          <a:p>
            <a:pPr indent="0" marL="0">
              <a:buNone/>
            </a:pPr>
            <a:r>
              <a:rPr lang="en-US" sz="1050" dirty="0">
                <a:solidFill>
                  <a:schemeClr val="tx1"/>
                </a:solidFill>
              </a:rPr>
              <a:t>Xem chi tiết tài sản, tải tài liệu (giải mã khi tải)</a:t>
            </a:r>
            <a:endParaRPr lang="en-US" sz="1050" dirty="0"/>
          </a:p>
        </p:txBody>
      </p:sp>
      <p:sp>
        <p:nvSpPr>
          <p:cNvPr id="23" name="arrow-184"/>
          <p:cNvSpPr/>
          <p:nvPr/>
        </p:nvSpPr>
        <p:spPr>
          <a:xfrm>
            <a:off x="5347411" y="2011680"/>
            <a:ext cx="146304" cy="182880"/>
          </a:xfrm>
          <a:prstGeom prst="chevron">
            <a:avLst/>
          </a:prstGeom>
          <a:solidFill>
            <a:schemeClr val="accent2"/>
          </a:solidFill>
          <a:ln w="12700">
            <a:solidFill>
              <a:schemeClr val="accent2"/>
            </a:solidFill>
            <a:prstDash val="solid"/>
          </a:ln>
        </p:spPr>
      </p:sp>
      <p:sp>
        <p:nvSpPr>
          <p:cNvPr id="24" name="step-185"/>
          <p:cNvSpPr/>
          <p:nvPr/>
        </p:nvSpPr>
        <p:spPr>
          <a:xfrm>
            <a:off x="5548579" y="1325880"/>
            <a:ext cx="1441094" cy="1554480"/>
          </a:xfrm>
          <a:prstGeom prst="roundRect">
            <a:avLst>
              <a:gd name="adj" fmla="val 5076"/>
            </a:avLst>
          </a:prstGeom>
          <a:solidFill>
            <a:schemeClr val="bg2"/>
          </a:solidFill>
          <a:ln w="12700">
            <a:solidFill>
              <a:schemeClr val="bg2"/>
            </a:solidFill>
            <a:prstDash val="solid"/>
          </a:ln>
        </p:spPr>
      </p:sp>
      <p:sp>
        <p:nvSpPr>
          <p:cNvPr id="25" name="num-186"/>
          <p:cNvSpPr/>
          <p:nvPr/>
        </p:nvSpPr>
        <p:spPr>
          <a:xfrm>
            <a:off x="5658307" y="1435608"/>
            <a:ext cx="329184" cy="329184"/>
          </a:xfrm>
          <a:prstGeom prst="ellipse">
            <a:avLst/>
          </a:prstGeom>
          <a:solidFill>
            <a:schemeClr val="accent3"/>
          </a:solidFill>
          <a:ln w="12700">
            <a:solidFill>
              <a:schemeClr val="accent3"/>
            </a:solidFill>
            <a:prstDash val="solid"/>
          </a:ln>
        </p:spPr>
      </p:sp>
      <p:sp>
        <p:nvSpPr>
          <p:cNvPr id="26" name="numtxt-187"/>
          <p:cNvSpPr txBox="1"/>
          <p:nvPr/>
        </p:nvSpPr>
        <p:spPr>
          <a:xfrm>
            <a:off x="5658307" y="143560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7" name="steptitle-188"/>
          <p:cNvSpPr txBox="1"/>
          <p:nvPr/>
        </p:nvSpPr>
        <p:spPr>
          <a:xfrm>
            <a:off x="5658307" y="1819656"/>
            <a:ext cx="1221638" cy="310896"/>
          </a:xfrm>
          <a:prstGeom prst="rect">
            <a:avLst/>
          </a:prstGeom>
          <a:noFill/>
          <a:ln/>
        </p:spPr>
        <p:txBody>
          <a:bodyPr wrap="square" lIns="0" tIns="0" rIns="0" bIns="0" rtlCol="0" anchor="t"/>
          <a:lstStyle/>
          <a:p>
            <a:pPr indent="0" marL="0">
              <a:buNone/>
            </a:pPr>
            <a:r>
              <a:rPr lang="en-US" sz="1300" b="1" dirty="0">
                <a:solidFill>
                  <a:schemeClr val="tx2"/>
                </a:solidFill>
              </a:rPr>
              <a:t>Đóng vault</a:t>
            </a:r>
            <a:endParaRPr lang="en-US" sz="1300" dirty="0"/>
          </a:p>
        </p:txBody>
      </p:sp>
      <p:sp>
        <p:nvSpPr>
          <p:cNvPr id="28" name="stepdesc-189"/>
          <p:cNvSpPr txBox="1"/>
          <p:nvPr/>
        </p:nvSpPr>
        <p:spPr>
          <a:xfrm>
            <a:off x="5658307" y="2130552"/>
            <a:ext cx="1221638" cy="685800"/>
          </a:xfrm>
          <a:prstGeom prst="rect">
            <a:avLst/>
          </a:prstGeom>
          <a:noFill/>
          <a:ln/>
        </p:spPr>
        <p:txBody>
          <a:bodyPr wrap="square" lIns="0" tIns="0" rIns="0" bIns="0" rtlCol="0" anchor="t"/>
          <a:lstStyle/>
          <a:p>
            <a:pPr indent="0" marL="0">
              <a:buNone/>
            </a:pPr>
            <a:r>
              <a:rPr lang="en-US" sz="1050" dirty="0">
                <a:solidFill>
                  <a:schemeClr val="tx1"/>
                </a:solidFill>
              </a:rPr>
              <a:t>Xem trước, cảnh báo mục chưa xem → ARCHIVED</a:t>
            </a:r>
            <a:endParaRPr lang="en-US" sz="1050" dirty="0"/>
          </a:p>
        </p:txBody>
      </p:sp>
      <p:sp>
        <p:nvSpPr>
          <p:cNvPr id="29" name="arrow-190"/>
          <p:cNvSpPr/>
          <p:nvPr/>
        </p:nvSpPr>
        <p:spPr>
          <a:xfrm>
            <a:off x="7044538" y="2011680"/>
            <a:ext cx="146304" cy="182880"/>
          </a:xfrm>
          <a:prstGeom prst="chevron">
            <a:avLst/>
          </a:prstGeom>
          <a:solidFill>
            <a:schemeClr val="accent2"/>
          </a:solidFill>
          <a:ln w="12700">
            <a:solidFill>
              <a:schemeClr val="accent2"/>
            </a:solidFill>
            <a:prstDash val="solid"/>
          </a:ln>
        </p:spPr>
      </p:sp>
      <p:sp>
        <p:nvSpPr>
          <p:cNvPr id="30" name="step-191"/>
          <p:cNvSpPr/>
          <p:nvPr/>
        </p:nvSpPr>
        <p:spPr>
          <a:xfrm>
            <a:off x="7245706" y="1325880"/>
            <a:ext cx="1441094" cy="1554480"/>
          </a:xfrm>
          <a:prstGeom prst="roundRect">
            <a:avLst>
              <a:gd name="adj" fmla="val 5076"/>
            </a:avLst>
          </a:prstGeom>
          <a:solidFill>
            <a:schemeClr val="bg2"/>
          </a:solidFill>
          <a:ln w="12700">
            <a:solidFill>
              <a:schemeClr val="bg2"/>
            </a:solidFill>
            <a:prstDash val="solid"/>
          </a:ln>
        </p:spPr>
      </p:sp>
      <p:sp>
        <p:nvSpPr>
          <p:cNvPr id="31" name="num-192"/>
          <p:cNvSpPr/>
          <p:nvPr/>
        </p:nvSpPr>
        <p:spPr>
          <a:xfrm>
            <a:off x="7355434" y="1435608"/>
            <a:ext cx="329184" cy="329184"/>
          </a:xfrm>
          <a:prstGeom prst="ellipse">
            <a:avLst/>
          </a:prstGeom>
          <a:solidFill>
            <a:schemeClr val="accent3"/>
          </a:solidFill>
          <a:ln w="12700">
            <a:solidFill>
              <a:schemeClr val="accent3"/>
            </a:solidFill>
            <a:prstDash val="solid"/>
          </a:ln>
        </p:spPr>
      </p:sp>
      <p:sp>
        <p:nvSpPr>
          <p:cNvPr id="32" name="numtxt-193"/>
          <p:cNvSpPr txBox="1"/>
          <p:nvPr/>
        </p:nvSpPr>
        <p:spPr>
          <a:xfrm>
            <a:off x="7355434" y="143560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33" name="steptitle-194"/>
          <p:cNvSpPr txBox="1"/>
          <p:nvPr/>
        </p:nvSpPr>
        <p:spPr>
          <a:xfrm>
            <a:off x="7355434" y="1819656"/>
            <a:ext cx="1221638" cy="310896"/>
          </a:xfrm>
          <a:prstGeom prst="rect">
            <a:avLst/>
          </a:prstGeom>
          <a:noFill/>
          <a:ln/>
        </p:spPr>
        <p:txBody>
          <a:bodyPr wrap="square" lIns="0" tIns="0" rIns="0" bIns="0" rtlCol="0" anchor="t"/>
          <a:lstStyle/>
          <a:p>
            <a:pPr indent="0" marL="0">
              <a:buNone/>
            </a:pPr>
            <a:r>
              <a:rPr lang="en-US" sz="1300" b="1" dirty="0">
                <a:solidFill>
                  <a:schemeClr val="tx2"/>
                </a:solidFill>
              </a:rPr>
              <a:t>Xoá vĩnh viễn</a:t>
            </a:r>
            <a:endParaRPr lang="en-US" sz="1300" dirty="0"/>
          </a:p>
        </p:txBody>
      </p:sp>
      <p:sp>
        <p:nvSpPr>
          <p:cNvPr id="34" name="stepdesc-195"/>
          <p:cNvSpPr txBox="1"/>
          <p:nvPr/>
        </p:nvSpPr>
        <p:spPr>
          <a:xfrm>
            <a:off x="7355434" y="2130552"/>
            <a:ext cx="1221638" cy="685800"/>
          </a:xfrm>
          <a:prstGeom prst="rect">
            <a:avLst/>
          </a:prstGeom>
          <a:noFill/>
          <a:ln/>
        </p:spPr>
        <p:txBody>
          <a:bodyPr wrap="square" lIns="0" tIns="0" rIns="0" bIns="0" rtlCol="0" anchor="t"/>
          <a:lstStyle/>
          <a:p>
            <a:pPr indent="0" marL="0">
              <a:buNone/>
            </a:pPr>
            <a:r>
              <a:rPr lang="en-US" sz="1050" dirty="0">
                <a:solidFill>
                  <a:schemeClr val="tx1"/>
                </a:solidFill>
              </a:rPr>
              <a:t>Scheduler xoá dữ liệu khi tới hạn</a:t>
            </a:r>
            <a:endParaRPr lang="en-US" sz="1050" dirty="0"/>
          </a:p>
        </p:txBody>
      </p:sp>
      <p:sp>
        <p:nvSpPr>
          <p:cNvPr id="35" name="timeout"/>
          <p:cNvSpPr/>
          <p:nvPr/>
        </p:nvSpPr>
        <p:spPr>
          <a:xfrm>
            <a:off x="457200" y="3063240"/>
            <a:ext cx="8229600" cy="685800"/>
          </a:xfrm>
          <a:prstGeom prst="roundRect">
            <a:avLst>
              <a:gd name="adj" fmla="val 10667"/>
            </a:avLst>
          </a:prstGeom>
          <a:solidFill>
            <a:schemeClr val="bg2"/>
          </a:solidFill>
          <a:ln w="12700">
            <a:solidFill>
              <a:schemeClr val="bg2"/>
            </a:solidFill>
            <a:prstDash val="solid"/>
          </a:ln>
        </p:spPr>
      </p:sp>
      <p:sp>
        <p:nvSpPr>
          <p:cNvPr id="36" name="timeouttxt"/>
          <p:cNvSpPr txBox="1"/>
          <p:nvPr/>
        </p:nvSpPr>
        <p:spPr>
          <a:xfrm>
            <a:off x="640080" y="3063240"/>
            <a:ext cx="7863840" cy="685800"/>
          </a:xfrm>
          <a:prstGeom prst="rect">
            <a:avLst/>
          </a:prstGeom>
          <a:noFill/>
          <a:ln/>
        </p:spPr>
        <p:txBody>
          <a:bodyPr wrap="square" lIns="0" tIns="0" rIns="0" bIns="0" rtlCol="0" anchor="ctr"/>
          <a:lstStyle/>
          <a:p>
            <a:pPr indent="0" marL="0">
              <a:buNone/>
            </a:pPr>
            <a:r>
              <a:rPr lang="en-US" sz="1200" b="1" dirty="0">
                <a:solidFill>
                  <a:schemeClr val="tx2"/>
                </a:solidFill>
              </a:rPr>
              <a:t>Nếu không nhận: </a:t>
            </a:r>
            <a:pPr indent="0" marL="0">
              <a:buNone/>
            </a:pPr>
            <a:r>
              <a:rPr lang="en-US" sz="1200" dirty="0">
                <a:solidFill>
                  <a:schemeClr val="tx1"/>
                </a:solidFill>
              </a:rPr>
              <a:t>quá hạn claim → hệ thống tự đánh dấu hết hạn và lưu trữ vault.</a:t>
            </a:r>
            <a:endParaRPr lang="en-US" sz="1200" dirty="0"/>
          </a:p>
        </p:txBody>
      </p:sp>
      <p:sp>
        <p:nvSpPr>
          <p:cNvPr id="37" name="note-196"/>
          <p:cNvSpPr/>
          <p:nvPr/>
        </p:nvSpPr>
        <p:spPr>
          <a:xfrm>
            <a:off x="457200" y="3931920"/>
            <a:ext cx="8229600" cy="640080"/>
          </a:xfrm>
          <a:prstGeom prst="roundRect">
            <a:avLst>
              <a:gd name="adj" fmla="val 11429"/>
            </a:avLst>
          </a:prstGeom>
          <a:solidFill>
            <a:schemeClr val="accent6">
              <a:alpha val="45000"/>
            </a:schemeClr>
          </a:solidFill>
          <a:ln w="12700">
            <a:solidFill>
              <a:schemeClr val="accent6"/>
            </a:solidFill>
            <a:prstDash val="solid"/>
          </a:ln>
        </p:spPr>
      </p:sp>
      <p:sp>
        <p:nvSpPr>
          <p:cNvPr id="38" name="notetxt-197"/>
          <p:cNvSpPr txBox="1"/>
          <p:nvPr/>
        </p:nvSpPr>
        <p:spPr>
          <a:xfrm>
            <a:off x="640080" y="3931920"/>
            <a:ext cx="7863840" cy="640080"/>
          </a:xfrm>
          <a:prstGeom prst="rect">
            <a:avLst/>
          </a:prstGeom>
          <a:noFill/>
          <a:ln/>
        </p:spPr>
        <p:txBody>
          <a:bodyPr wrap="square" lIns="0" tIns="0" rIns="0" bIns="0" rtlCol="0" anchor="ctr"/>
          <a:lstStyle/>
          <a:p>
            <a:pPr indent="0" marL="0">
              <a:buNone/>
            </a:pPr>
            <a:r>
              <a:rPr lang="en-US" sz="1200" b="1" dirty="0">
                <a:solidFill>
                  <a:schemeClr val="tx2"/>
                </a:solidFill>
              </a:rPr>
              <a:t>Điểm nhấn: </a:t>
            </a:r>
            <a:pPr indent="0" marL="0">
              <a:buNone/>
            </a:pPr>
            <a:r>
              <a:rPr lang="en-US" sz="1200" dirty="0">
                <a:solidFill>
                  <a:schemeClr val="tx1"/>
                </a:solidFill>
              </a:rPr>
              <a:t>mỗi lần xem/tải tài sản đều được ghi lại; tải hàng loạt bất thường sinh cảnh báo cho Admin.</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498080" cy="566928"/>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Luồng 7 &amp; 8 · Thay đổi và giám sát</a:t>
            </a:r>
            <a:endParaRPr lang="en-US" sz="2800" dirty="0"/>
          </a:p>
        </p:txBody>
      </p:sp>
      <p:sp>
        <p:nvSpPr>
          <p:cNvPr id="3" name="Text 0"/>
          <p:cNvSpPr/>
          <p:nvPr>
            <p:ph idx="101" type="body" hasCustomPrompt="1"/>
          </p:nvPr>
        </p:nvSpPr>
        <p:spPr>
          <a:xfrm>
            <a:off x="457200" y="804672"/>
            <a:ext cx="7498080" cy="365760"/>
          </a:xfrm>
          <a:prstGeom prst="rect">
            <a:avLst/>
          </a:prstGeom>
          <a:noFill/>
          <a:ln/>
        </p:spPr>
        <p:txBody>
          <a:bodyPr wrap="square" lIns="0" tIns="0" rIns="0" bIns="0" rtlCol="0" anchor="t"/>
          <a:lstStyle/>
          <a:p>
            <a:pPr algn="l" indent="0" marL="0">
              <a:buNone/>
            </a:pPr>
            <a:r>
              <a:rPr lang="en-US" sz="1400" dirty="0">
                <a:solidFill>
                  <a:schemeClr val="accent5"/>
                </a:solidFill>
                <a:latin typeface="Calibri" pitchFamily="34" charset="0"/>
                <a:ea typeface="Calibri" pitchFamily="34" charset="-122"/>
                <a:cs typeface="Calibri" pitchFamily="34" charset="-120"/>
              </a:rPr>
              <a:t>Mọi thay đổi đều có kiểm soát và để lại dấu vết</a:t>
            </a:r>
            <a:endParaRPr lang="en-US" sz="1400" dirty="0"/>
          </a:p>
        </p:txBody>
      </p:sp>
      <p:sp>
        <p:nvSpPr>
          <p:cNvPr id="4" name="badge-198"/>
          <p:cNvSpPr/>
          <p:nvPr/>
        </p:nvSpPr>
        <p:spPr>
          <a:xfrm>
            <a:off x="8092440" y="274320"/>
            <a:ext cx="548640" cy="548640"/>
          </a:xfrm>
          <a:prstGeom prst="ellipse">
            <a:avLst/>
          </a:prstGeom>
          <a:solidFill>
            <a:schemeClr val="accent5"/>
          </a:solidFill>
          <a:ln w="12700">
            <a:solidFill>
              <a:schemeClr val="accent5"/>
            </a:solidFill>
            <a:prstDash val="solid"/>
          </a:ln>
        </p:spPr>
      </p:sp>
      <p:pic>
        <p:nvPicPr>
          <p:cNvPr id="5" name="icon-199" descr="icon">    </p:cNvPr>
          <p:cNvPicPr>
            <a:picLocks noChangeAspect="1"/>
          </p:cNvPicPr>
          <p:nvPr/>
        </p:nvPicPr>
        <p:blipFill>
          <a:blip r:embed="rId1"/>
          <a:stretch>
            <a:fillRect/>
          </a:stretch>
        </p:blipFill>
        <p:spPr>
          <a:xfrm>
            <a:off x="8202168" y="384048"/>
            <a:ext cx="329184" cy="329184"/>
          </a:xfrm>
          <a:prstGeom prst="rect">
            <a:avLst/>
          </a:prstGeom>
        </p:spPr>
      </p:pic>
      <p:sp>
        <p:nvSpPr>
          <p:cNvPr id="6" name="c1"/>
          <p:cNvSpPr/>
          <p:nvPr/>
        </p:nvSpPr>
        <p:spPr>
          <a:xfrm>
            <a:off x="457200" y="1371600"/>
            <a:ext cx="4023360" cy="2286000"/>
          </a:xfrm>
          <a:prstGeom prst="roundRect">
            <a:avLst>
              <a:gd name="adj" fmla="val 3200"/>
            </a:avLst>
          </a:prstGeom>
          <a:solidFill>
            <a:schemeClr val="bg2"/>
          </a:solidFill>
          <a:ln w="12700">
            <a:solidFill>
              <a:schemeClr val="bg2"/>
            </a:solidFill>
            <a:prstDash val="solid"/>
          </a:ln>
        </p:spPr>
      </p:sp>
      <p:sp>
        <p:nvSpPr>
          <p:cNvPr id="7" name="c1title"/>
          <p:cNvSpPr txBox="1"/>
          <p:nvPr/>
        </p:nvSpPr>
        <p:spPr>
          <a:xfrm>
            <a:off x="685800" y="1481328"/>
            <a:ext cx="3566160" cy="365760"/>
          </a:xfrm>
          <a:prstGeom prst="rect">
            <a:avLst/>
          </a:prstGeom>
          <a:noFill/>
          <a:ln/>
        </p:spPr>
        <p:txBody>
          <a:bodyPr wrap="square" lIns="0" tIns="0" rIns="0" bIns="0" rtlCol="0" anchor="ctr"/>
          <a:lstStyle/>
          <a:p>
            <a:pPr indent="0" marL="0">
              <a:buNone/>
            </a:pPr>
            <a:r>
              <a:rPr lang="en-US" sz="1500" b="1" dirty="0">
                <a:solidFill>
                  <a:schemeClr val="accent1"/>
                </a:solidFill>
              </a:rPr>
              <a:t>Thay đổi khi còn sống</a:t>
            </a:r>
            <a:endParaRPr lang="en-US" sz="1500" dirty="0"/>
          </a:p>
        </p:txBody>
      </p:sp>
      <p:sp>
        <p:nvSpPr>
          <p:cNvPr id="8" name="c1list"/>
          <p:cNvSpPr txBox="1"/>
          <p:nvPr/>
        </p:nvSpPr>
        <p:spPr>
          <a:xfrm>
            <a:off x="685800" y="1901952"/>
            <a:ext cx="3611880" cy="18288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Sửa / xoá vault, tài sản, tài liệu</a:t>
            </a:r>
            <a:endParaRPr lang="en-US" sz="1200" dirty="0"/>
          </a:p>
          <a:p>
            <a:pPr marL="342900" indent="-342900">
              <a:spcAft>
                <a:spcPts val="600"/>
              </a:spcAft>
              <a:buSzPct val="100000"/>
              <a:buChar char="•"/>
            </a:pPr>
            <a:r>
              <a:rPr lang="en-US" sz="1200" dirty="0">
                <a:solidFill>
                  <a:schemeClr val="tx1"/>
                </a:solidFill>
              </a:rPr>
              <a:t>Đổi người thụ hưởng, đổi Executor (có xác nhận)</a:t>
            </a:r>
            <a:endParaRPr lang="en-US" sz="1200" dirty="0"/>
          </a:p>
          <a:p>
            <a:pPr marL="342900" indent="-342900">
              <a:spcAft>
                <a:spcPts val="600"/>
              </a:spcAft>
              <a:buSzPct val="100000"/>
              <a:buChar char="•"/>
            </a:pPr>
            <a:r>
              <a:rPr lang="en-US" sz="1200" dirty="0">
                <a:solidFill>
                  <a:schemeClr val="tx1"/>
                </a:solidFill>
              </a:rPr>
              <a:t>Vault tự khoá sửa khi đang có hồ sơ xác minh mở</a:t>
            </a:r>
            <a:endParaRPr lang="en-US" sz="1200" dirty="0"/>
          </a:p>
          <a:p>
            <a:pPr marL="342900" indent="-342900">
              <a:spcAft>
                <a:spcPts val="600"/>
              </a:spcAft>
              <a:buSzPct val="100000"/>
              <a:buChar char="•"/>
            </a:pPr>
            <a:r>
              <a:rPr lang="en-US" sz="1200" dirty="0">
                <a:solidFill>
                  <a:schemeClr val="tx1"/>
                </a:solidFill>
              </a:rPr>
              <a:t>Nhật ký hoạt động riêng cho Owner</a:t>
            </a:r>
            <a:endParaRPr lang="en-US" sz="1200" dirty="0"/>
          </a:p>
        </p:txBody>
      </p:sp>
      <p:sp>
        <p:nvSpPr>
          <p:cNvPr id="9" name="c2"/>
          <p:cNvSpPr/>
          <p:nvPr/>
        </p:nvSpPr>
        <p:spPr>
          <a:xfrm>
            <a:off x="4663440" y="1371600"/>
            <a:ext cx="4023360" cy="2286000"/>
          </a:xfrm>
          <a:prstGeom prst="roundRect">
            <a:avLst>
              <a:gd name="adj" fmla="val 3200"/>
            </a:avLst>
          </a:prstGeom>
          <a:solidFill>
            <a:schemeClr val="bg2"/>
          </a:solidFill>
          <a:ln w="12700">
            <a:solidFill>
              <a:schemeClr val="bg2"/>
            </a:solidFill>
            <a:prstDash val="solid"/>
          </a:ln>
        </p:spPr>
      </p:sp>
      <p:sp>
        <p:nvSpPr>
          <p:cNvPr id="10" name="c2title"/>
          <p:cNvSpPr txBox="1"/>
          <p:nvPr/>
        </p:nvSpPr>
        <p:spPr>
          <a:xfrm>
            <a:off x="4892040" y="1481328"/>
            <a:ext cx="3566160" cy="365760"/>
          </a:xfrm>
          <a:prstGeom prst="rect">
            <a:avLst/>
          </a:prstGeom>
          <a:noFill/>
          <a:ln/>
        </p:spPr>
        <p:txBody>
          <a:bodyPr wrap="square" lIns="0" tIns="0" rIns="0" bIns="0" rtlCol="0" anchor="ctr"/>
          <a:lstStyle/>
          <a:p>
            <a:pPr indent="0" marL="0">
              <a:buNone/>
            </a:pPr>
            <a:r>
              <a:rPr lang="en-US" sz="1500" b="1" dirty="0">
                <a:solidFill>
                  <a:schemeClr val="accent3"/>
                </a:solidFill>
              </a:rPr>
              <a:t>Giám sát &amp; an ninh (Admin)</a:t>
            </a:r>
            <a:endParaRPr lang="en-US" sz="1500" dirty="0"/>
          </a:p>
        </p:txBody>
      </p:sp>
      <p:sp>
        <p:nvSpPr>
          <p:cNvPr id="11" name="c2list"/>
          <p:cNvSpPr txBox="1"/>
          <p:nvPr/>
        </p:nvSpPr>
        <p:spPr>
          <a:xfrm>
            <a:off x="4892040" y="1901952"/>
            <a:ext cx="3611880" cy="18288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Audit log toàn hệ thống, lọc theo người, hành động</a:t>
            </a:r>
            <a:endParaRPr lang="en-US" sz="1200" dirty="0"/>
          </a:p>
          <a:p>
            <a:pPr marL="342900" indent="-342900">
              <a:spcAft>
                <a:spcPts val="600"/>
              </a:spcAft>
              <a:buSzPct val="100000"/>
              <a:buChar char="•"/>
            </a:pPr>
            <a:r>
              <a:rPr lang="en-US" sz="1200" dirty="0">
                <a:solidFill>
                  <a:schemeClr val="tx1"/>
                </a:solidFill>
              </a:rPr>
              <a:t>Cảnh báo tự động: dò mật khẩu, token bị dùng lại, tải hàng loạt, cấp quyền Admin</a:t>
            </a:r>
            <a:endParaRPr lang="en-US" sz="1200" dirty="0"/>
          </a:p>
          <a:p>
            <a:pPr marL="342900" indent="-342900">
              <a:spcAft>
                <a:spcPts val="600"/>
              </a:spcAft>
              <a:buSzPct val="100000"/>
              <a:buChar char="•"/>
            </a:pPr>
            <a:r>
              <a:rPr lang="en-US" sz="1200" dirty="0">
                <a:solidFill>
                  <a:schemeClr val="tx1"/>
                </a:solidFill>
              </a:rPr>
              <a:t>Khoá tài khoản, phân quyền động (RBAC)</a:t>
            </a:r>
            <a:endParaRPr lang="en-US" sz="1200" dirty="0"/>
          </a:p>
          <a:p>
            <a:pPr marL="342900" indent="-342900">
              <a:spcAft>
                <a:spcPts val="600"/>
              </a:spcAft>
              <a:buSzPct val="100000"/>
              <a:buChar char="•"/>
            </a:pPr>
            <a:r>
              <a:rPr lang="en-US" sz="1200" dirty="0">
                <a:solidFill>
                  <a:schemeClr val="tx1"/>
                </a:solidFill>
              </a:rPr>
              <a:t>Tạm dừng DMS, cứu hộ Executor</a:t>
            </a:r>
            <a:endParaRPr lang="en-US" sz="1200" dirty="0"/>
          </a:p>
        </p:txBody>
      </p:sp>
      <p:sp>
        <p:nvSpPr>
          <p:cNvPr id="12" name="note-200"/>
          <p:cNvSpPr/>
          <p:nvPr/>
        </p:nvSpPr>
        <p:spPr>
          <a:xfrm>
            <a:off x="457200" y="4023360"/>
            <a:ext cx="8229600" cy="594360"/>
          </a:xfrm>
          <a:prstGeom prst="roundRect">
            <a:avLst>
              <a:gd name="adj" fmla="val 12308"/>
            </a:avLst>
          </a:prstGeom>
          <a:solidFill>
            <a:schemeClr val="accent6">
              <a:alpha val="45000"/>
            </a:schemeClr>
          </a:solidFill>
          <a:ln w="12700">
            <a:solidFill>
              <a:schemeClr val="accent6"/>
            </a:solidFill>
            <a:prstDash val="solid"/>
          </a:ln>
        </p:spPr>
      </p:sp>
      <p:sp>
        <p:nvSpPr>
          <p:cNvPr id="13" name="notetxt-201"/>
          <p:cNvSpPr txBox="1"/>
          <p:nvPr/>
        </p:nvSpPr>
        <p:spPr>
          <a:xfrm>
            <a:off x="640080" y="4023360"/>
            <a:ext cx="7863840" cy="594360"/>
          </a:xfrm>
          <a:prstGeom prst="rect">
            <a:avLst/>
          </a:prstGeom>
          <a:noFill/>
          <a:ln/>
        </p:spPr>
        <p:txBody>
          <a:bodyPr wrap="square" lIns="0" tIns="0" rIns="0" bIns="0" rtlCol="0" anchor="ctr"/>
          <a:lstStyle/>
          <a:p>
            <a:pPr indent="0" marL="0">
              <a:buNone/>
            </a:pPr>
            <a:r>
              <a:rPr lang="en-US" sz="1200" b="1" dirty="0">
                <a:solidFill>
                  <a:schemeClr val="tx2"/>
                </a:solidFill>
              </a:rPr>
              <a:t>Điểm nhấn: </a:t>
            </a:r>
            <a:pPr indent="0" marL="0">
              <a:buNone/>
            </a:pPr>
            <a:r>
              <a:rPr lang="en-US" sz="1200" dirty="0">
                <a:solidFill>
                  <a:schemeClr val="tx1"/>
                </a:solidFill>
              </a:rPr>
              <a:t>trợ lý AI trong app hướng dẫn người dùng từng bước (chế độ mock hoặc Gemini).</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498080" cy="566928"/>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Trạng thái của vault</a:t>
            </a:r>
            <a:endParaRPr lang="en-US" sz="2800" dirty="0"/>
          </a:p>
        </p:txBody>
      </p:sp>
      <p:sp>
        <p:nvSpPr>
          <p:cNvPr id="3" name="Text 0"/>
          <p:cNvSpPr/>
          <p:nvPr>
            <p:ph idx="101" type="body" hasCustomPrompt="1"/>
          </p:nvPr>
        </p:nvSpPr>
        <p:spPr>
          <a:xfrm>
            <a:off x="457200" y="804672"/>
            <a:ext cx="7498080" cy="365760"/>
          </a:xfrm>
          <a:prstGeom prst="rect">
            <a:avLst/>
          </a:prstGeom>
          <a:noFill/>
          <a:ln/>
        </p:spPr>
        <p:txBody>
          <a:bodyPr wrap="square" lIns="0" tIns="0" rIns="0" bIns="0" rtlCol="0" anchor="t"/>
          <a:lstStyle/>
          <a:p>
            <a:pPr algn="l" indent="0" marL="0">
              <a:buNone/>
            </a:pPr>
            <a:r>
              <a:rPr lang="en-US" sz="1400" dirty="0">
                <a:solidFill>
                  <a:schemeClr val="accent5"/>
                </a:solidFill>
                <a:latin typeface="Calibri" pitchFamily="34" charset="0"/>
                <a:ea typeface="Calibri" pitchFamily="34" charset="-122"/>
                <a:cs typeface="Calibri" pitchFamily="34" charset="-120"/>
              </a:rPr>
              <a:t>Mỗi luồng đẩy vault qua một trạng thái rõ ràng</a:t>
            </a:r>
            <a:endParaRPr lang="en-US" sz="1400" dirty="0"/>
          </a:p>
        </p:txBody>
      </p:sp>
      <p:sp>
        <p:nvSpPr>
          <p:cNvPr id="4" name="badge-202"/>
          <p:cNvSpPr/>
          <p:nvPr/>
        </p:nvSpPr>
        <p:spPr>
          <a:xfrm>
            <a:off x="8092440" y="274320"/>
            <a:ext cx="548640" cy="548640"/>
          </a:xfrm>
          <a:prstGeom prst="ellipse">
            <a:avLst/>
          </a:prstGeom>
          <a:solidFill>
            <a:schemeClr val="accent1"/>
          </a:solidFill>
          <a:ln w="12700">
            <a:solidFill>
              <a:schemeClr val="accent1"/>
            </a:solidFill>
            <a:prstDash val="solid"/>
          </a:ln>
        </p:spPr>
      </p:sp>
      <p:pic>
        <p:nvPicPr>
          <p:cNvPr id="5" name="icon-203" descr="icon">    </p:cNvPr>
          <p:cNvPicPr>
            <a:picLocks noChangeAspect="1"/>
          </p:cNvPicPr>
          <p:nvPr/>
        </p:nvPicPr>
        <p:blipFill>
          <a:blip r:embed="rId1"/>
          <a:stretch>
            <a:fillRect/>
          </a:stretch>
        </p:blipFill>
        <p:spPr>
          <a:xfrm>
            <a:off x="8202168" y="384048"/>
            <a:ext cx="329184" cy="329184"/>
          </a:xfrm>
          <a:prstGeom prst="rect">
            <a:avLst/>
          </a:prstGeom>
        </p:spPr>
      </p:pic>
      <p:sp>
        <p:nvSpPr>
          <p:cNvPr id="6" name="state-204"/>
          <p:cNvSpPr/>
          <p:nvPr/>
        </p:nvSpPr>
        <p:spPr>
          <a:xfrm>
            <a:off x="457200" y="1600200"/>
            <a:ext cx="1371600" cy="685800"/>
          </a:xfrm>
          <a:prstGeom prst="roundRect">
            <a:avLst>
              <a:gd name="adj" fmla="val 49333"/>
            </a:avLst>
          </a:prstGeom>
          <a:solidFill>
            <a:schemeClr val="accent1"/>
          </a:solidFill>
          <a:ln w="12700">
            <a:solidFill>
              <a:schemeClr val="accent1"/>
            </a:solidFill>
            <a:prstDash val="solid"/>
          </a:ln>
        </p:spPr>
      </p:sp>
      <p:sp>
        <p:nvSpPr>
          <p:cNvPr id="7" name="statetxt-205"/>
          <p:cNvSpPr txBox="1"/>
          <p:nvPr/>
        </p:nvSpPr>
        <p:spPr>
          <a:xfrm>
            <a:off x="457200" y="1600200"/>
            <a:ext cx="1371600" cy="685800"/>
          </a:xfrm>
          <a:prstGeom prst="rect">
            <a:avLst/>
          </a:prstGeom>
          <a:noFill/>
          <a:ln/>
        </p:spPr>
        <p:txBody>
          <a:bodyPr wrap="square" lIns="0" tIns="0" rIns="0" bIns="0" rtlCol="0" anchor="ctr"/>
          <a:lstStyle/>
          <a:p>
            <a:pPr algn="ctr" indent="0" marL="0">
              <a:buNone/>
            </a:pPr>
            <a:r>
              <a:rPr lang="en-US" sz="1500" b="1" dirty="0">
                <a:solidFill>
                  <a:schemeClr val="bg1"/>
                </a:solidFill>
              </a:rPr>
              <a:t>ACTIVE</a:t>
            </a:r>
            <a:endParaRPr lang="en-US" sz="1500" dirty="0"/>
          </a:p>
        </p:txBody>
      </p:sp>
      <p:sp>
        <p:nvSpPr>
          <p:cNvPr id="8" name="statedesc-206"/>
          <p:cNvSpPr txBox="1"/>
          <p:nvPr/>
        </p:nvSpPr>
        <p:spPr>
          <a:xfrm>
            <a:off x="457200" y="2377440"/>
            <a:ext cx="1371600" cy="502920"/>
          </a:xfrm>
          <a:prstGeom prst="rect">
            <a:avLst/>
          </a:prstGeom>
          <a:noFill/>
          <a:ln/>
        </p:spPr>
        <p:txBody>
          <a:bodyPr wrap="square" lIns="0" tIns="0" rIns="0" bIns="0" rtlCol="0" anchor="t"/>
          <a:lstStyle/>
          <a:p>
            <a:pPr algn="ctr" indent="0" marL="0">
              <a:buNone/>
            </a:pPr>
            <a:r>
              <a:rPr lang="en-US" sz="1100" dirty="0">
                <a:solidFill>
                  <a:schemeClr val="tx1"/>
                </a:solidFill>
              </a:rPr>
              <a:t>Owner chỉnh sửa</a:t>
            </a:r>
            <a:endParaRPr lang="en-US" sz="1100" dirty="0"/>
          </a:p>
        </p:txBody>
      </p:sp>
      <p:sp>
        <p:nvSpPr>
          <p:cNvPr id="9" name="statearrow-207"/>
          <p:cNvSpPr/>
          <p:nvPr/>
        </p:nvSpPr>
        <p:spPr>
          <a:xfrm>
            <a:off x="1865376" y="1943100"/>
            <a:ext cx="269748" cy="0"/>
          </a:xfrm>
          <a:prstGeom prst="line">
            <a:avLst/>
          </a:prstGeom>
          <a:noFill/>
          <a:ln w="22225">
            <a:solidFill>
              <a:schemeClr val="accent2"/>
            </a:solidFill>
            <a:prstDash val="solid"/>
            <a:tailEnd type="triangle"/>
          </a:ln>
        </p:spPr>
      </p:sp>
      <p:sp>
        <p:nvSpPr>
          <p:cNvPr id="10" name="state-208"/>
          <p:cNvSpPr/>
          <p:nvPr/>
        </p:nvSpPr>
        <p:spPr>
          <a:xfrm>
            <a:off x="2171700" y="1600200"/>
            <a:ext cx="1371600" cy="685800"/>
          </a:xfrm>
          <a:prstGeom prst="roundRect">
            <a:avLst>
              <a:gd name="adj" fmla="val 49333"/>
            </a:avLst>
          </a:prstGeom>
          <a:solidFill>
            <a:schemeClr val="accent4"/>
          </a:solidFill>
          <a:ln w="12700">
            <a:solidFill>
              <a:schemeClr val="accent4"/>
            </a:solidFill>
            <a:prstDash val="solid"/>
          </a:ln>
        </p:spPr>
      </p:sp>
      <p:sp>
        <p:nvSpPr>
          <p:cNvPr id="11" name="statetxt-209"/>
          <p:cNvSpPr txBox="1"/>
          <p:nvPr/>
        </p:nvSpPr>
        <p:spPr>
          <a:xfrm>
            <a:off x="2171700" y="1600200"/>
            <a:ext cx="1371600" cy="685800"/>
          </a:xfrm>
          <a:prstGeom prst="rect">
            <a:avLst/>
          </a:prstGeom>
          <a:noFill/>
          <a:ln/>
        </p:spPr>
        <p:txBody>
          <a:bodyPr wrap="square" lIns="0" tIns="0" rIns="0" bIns="0" rtlCol="0" anchor="ctr"/>
          <a:lstStyle/>
          <a:p>
            <a:pPr algn="ctr" indent="0" marL="0">
              <a:buNone/>
            </a:pPr>
            <a:r>
              <a:rPr lang="en-US" sz="1500" b="1" dirty="0">
                <a:solidFill>
                  <a:schemeClr val="bg1"/>
                </a:solidFill>
              </a:rPr>
              <a:t>Locked</a:t>
            </a:r>
            <a:endParaRPr lang="en-US" sz="1500" dirty="0"/>
          </a:p>
        </p:txBody>
      </p:sp>
      <p:sp>
        <p:nvSpPr>
          <p:cNvPr id="12" name="statedesc-210"/>
          <p:cNvSpPr txBox="1"/>
          <p:nvPr/>
        </p:nvSpPr>
        <p:spPr>
          <a:xfrm>
            <a:off x="2171700" y="2377440"/>
            <a:ext cx="1371600" cy="502920"/>
          </a:xfrm>
          <a:prstGeom prst="rect">
            <a:avLst/>
          </a:prstGeom>
          <a:noFill/>
          <a:ln/>
        </p:spPr>
        <p:txBody>
          <a:bodyPr wrap="square" lIns="0" tIns="0" rIns="0" bIns="0" rtlCol="0" anchor="t"/>
          <a:lstStyle/>
          <a:p>
            <a:pPr algn="ctr" indent="0" marL="0">
              <a:buNone/>
            </a:pPr>
            <a:r>
              <a:rPr lang="en-US" sz="1100" dirty="0">
                <a:solidFill>
                  <a:schemeClr val="tx1"/>
                </a:solidFill>
              </a:rPr>
              <a:t>Có hồ sơ xác minh mở</a:t>
            </a:r>
            <a:endParaRPr lang="en-US" sz="1100" dirty="0"/>
          </a:p>
        </p:txBody>
      </p:sp>
      <p:sp>
        <p:nvSpPr>
          <p:cNvPr id="13" name="statearrow-211"/>
          <p:cNvSpPr/>
          <p:nvPr/>
        </p:nvSpPr>
        <p:spPr>
          <a:xfrm>
            <a:off x="3579876" y="1943100"/>
            <a:ext cx="269748" cy="0"/>
          </a:xfrm>
          <a:prstGeom prst="line">
            <a:avLst/>
          </a:prstGeom>
          <a:noFill/>
          <a:ln w="22225">
            <a:solidFill>
              <a:schemeClr val="accent2"/>
            </a:solidFill>
            <a:prstDash val="solid"/>
            <a:tailEnd type="triangle"/>
          </a:ln>
        </p:spPr>
      </p:sp>
      <p:sp>
        <p:nvSpPr>
          <p:cNvPr id="14" name="state-212"/>
          <p:cNvSpPr/>
          <p:nvPr/>
        </p:nvSpPr>
        <p:spPr>
          <a:xfrm>
            <a:off x="3886200" y="1600200"/>
            <a:ext cx="1371600" cy="685800"/>
          </a:xfrm>
          <a:prstGeom prst="roundRect">
            <a:avLst>
              <a:gd name="adj" fmla="val 49333"/>
            </a:avLst>
          </a:prstGeom>
          <a:solidFill>
            <a:schemeClr val="accent2"/>
          </a:solidFill>
          <a:ln w="12700">
            <a:solidFill>
              <a:schemeClr val="accent2"/>
            </a:solidFill>
            <a:prstDash val="solid"/>
          </a:ln>
        </p:spPr>
      </p:sp>
      <p:sp>
        <p:nvSpPr>
          <p:cNvPr id="15" name="statetxt-213"/>
          <p:cNvSpPr txBox="1"/>
          <p:nvPr/>
        </p:nvSpPr>
        <p:spPr>
          <a:xfrm>
            <a:off x="3886200" y="1600200"/>
            <a:ext cx="1371600" cy="685800"/>
          </a:xfrm>
          <a:prstGeom prst="rect">
            <a:avLst/>
          </a:prstGeom>
          <a:noFill/>
          <a:ln/>
        </p:spPr>
        <p:txBody>
          <a:bodyPr wrap="square" lIns="0" tIns="0" rIns="0" bIns="0" rtlCol="0" anchor="ctr"/>
          <a:lstStyle/>
          <a:p>
            <a:pPr algn="ctr" indent="0" marL="0">
              <a:buNone/>
            </a:pPr>
            <a:r>
              <a:rPr lang="en-US" sz="1500" b="1" dirty="0">
                <a:solidFill>
                  <a:schemeClr val="bg1"/>
                </a:solidFill>
              </a:rPr>
              <a:t>UNLOCKED</a:t>
            </a:r>
            <a:endParaRPr lang="en-US" sz="1500" dirty="0"/>
          </a:p>
        </p:txBody>
      </p:sp>
      <p:sp>
        <p:nvSpPr>
          <p:cNvPr id="16" name="statedesc-214"/>
          <p:cNvSpPr txBox="1"/>
          <p:nvPr/>
        </p:nvSpPr>
        <p:spPr>
          <a:xfrm>
            <a:off x="3886200" y="2377440"/>
            <a:ext cx="1371600" cy="502920"/>
          </a:xfrm>
          <a:prstGeom prst="rect">
            <a:avLst/>
          </a:prstGeom>
          <a:noFill/>
          <a:ln/>
        </p:spPr>
        <p:txBody>
          <a:bodyPr wrap="square" lIns="0" tIns="0" rIns="0" bIns="0" rtlCol="0" anchor="t"/>
          <a:lstStyle/>
          <a:p>
            <a:pPr algn="ctr" indent="0" marL="0">
              <a:buNone/>
            </a:pPr>
            <a:r>
              <a:rPr lang="en-US" sz="1100" dirty="0">
                <a:solidFill>
                  <a:schemeClr val="tx1"/>
                </a:solidFill>
              </a:rPr>
              <a:t>Luật sư đã ký</a:t>
            </a:r>
            <a:endParaRPr lang="en-US" sz="1100" dirty="0"/>
          </a:p>
        </p:txBody>
      </p:sp>
      <p:sp>
        <p:nvSpPr>
          <p:cNvPr id="17" name="statearrow-215"/>
          <p:cNvSpPr/>
          <p:nvPr/>
        </p:nvSpPr>
        <p:spPr>
          <a:xfrm>
            <a:off x="5294376" y="1943100"/>
            <a:ext cx="269748" cy="0"/>
          </a:xfrm>
          <a:prstGeom prst="line">
            <a:avLst/>
          </a:prstGeom>
          <a:noFill/>
          <a:ln w="22225">
            <a:solidFill>
              <a:schemeClr val="accent2"/>
            </a:solidFill>
            <a:prstDash val="solid"/>
            <a:tailEnd type="triangle"/>
          </a:ln>
        </p:spPr>
      </p:sp>
      <p:sp>
        <p:nvSpPr>
          <p:cNvPr id="18" name="state-216"/>
          <p:cNvSpPr/>
          <p:nvPr/>
        </p:nvSpPr>
        <p:spPr>
          <a:xfrm>
            <a:off x="5600700" y="1600200"/>
            <a:ext cx="1371600" cy="685800"/>
          </a:xfrm>
          <a:prstGeom prst="roundRect">
            <a:avLst>
              <a:gd name="adj" fmla="val 49333"/>
            </a:avLst>
          </a:prstGeom>
          <a:solidFill>
            <a:schemeClr val="accent3"/>
          </a:solidFill>
          <a:ln w="12700">
            <a:solidFill>
              <a:schemeClr val="accent3"/>
            </a:solidFill>
            <a:prstDash val="solid"/>
          </a:ln>
        </p:spPr>
      </p:sp>
      <p:sp>
        <p:nvSpPr>
          <p:cNvPr id="19" name="statetxt-217"/>
          <p:cNvSpPr txBox="1"/>
          <p:nvPr/>
        </p:nvSpPr>
        <p:spPr>
          <a:xfrm>
            <a:off x="5600700" y="1600200"/>
            <a:ext cx="1371600" cy="685800"/>
          </a:xfrm>
          <a:prstGeom prst="rect">
            <a:avLst/>
          </a:prstGeom>
          <a:noFill/>
          <a:ln/>
        </p:spPr>
        <p:txBody>
          <a:bodyPr wrap="square" lIns="0" tIns="0" rIns="0" bIns="0" rtlCol="0" anchor="ctr"/>
          <a:lstStyle/>
          <a:p>
            <a:pPr algn="ctr" indent="0" marL="0">
              <a:buNone/>
            </a:pPr>
            <a:r>
              <a:rPr lang="en-US" sz="1500" b="1" dirty="0">
                <a:solidFill>
                  <a:schemeClr val="bg1"/>
                </a:solidFill>
              </a:rPr>
              <a:t>CLAIMED</a:t>
            </a:r>
            <a:endParaRPr lang="en-US" sz="1500" dirty="0"/>
          </a:p>
        </p:txBody>
      </p:sp>
      <p:sp>
        <p:nvSpPr>
          <p:cNvPr id="20" name="statedesc-218"/>
          <p:cNvSpPr txBox="1"/>
          <p:nvPr/>
        </p:nvSpPr>
        <p:spPr>
          <a:xfrm>
            <a:off x="5600700" y="2377440"/>
            <a:ext cx="1371600" cy="502920"/>
          </a:xfrm>
          <a:prstGeom prst="rect">
            <a:avLst/>
          </a:prstGeom>
          <a:noFill/>
          <a:ln/>
        </p:spPr>
        <p:txBody>
          <a:bodyPr wrap="square" lIns="0" tIns="0" rIns="0" bIns="0" rtlCol="0" anchor="t"/>
          <a:lstStyle/>
          <a:p>
            <a:pPr algn="ctr" indent="0" marL="0">
              <a:buNone/>
            </a:pPr>
            <a:r>
              <a:rPr lang="en-US" sz="1100" dirty="0">
                <a:solidFill>
                  <a:schemeClr val="tx1"/>
                </a:solidFill>
              </a:rPr>
              <a:t>Người nhận đã xác minh</a:t>
            </a:r>
            <a:endParaRPr lang="en-US" sz="1100" dirty="0"/>
          </a:p>
        </p:txBody>
      </p:sp>
      <p:sp>
        <p:nvSpPr>
          <p:cNvPr id="21" name="statearrow-219"/>
          <p:cNvSpPr/>
          <p:nvPr/>
        </p:nvSpPr>
        <p:spPr>
          <a:xfrm>
            <a:off x="7008876" y="1943100"/>
            <a:ext cx="269748" cy="0"/>
          </a:xfrm>
          <a:prstGeom prst="line">
            <a:avLst/>
          </a:prstGeom>
          <a:noFill/>
          <a:ln w="22225">
            <a:solidFill>
              <a:schemeClr val="accent2"/>
            </a:solidFill>
            <a:prstDash val="solid"/>
            <a:tailEnd type="triangle"/>
          </a:ln>
        </p:spPr>
      </p:sp>
      <p:sp>
        <p:nvSpPr>
          <p:cNvPr id="22" name="state-220"/>
          <p:cNvSpPr/>
          <p:nvPr/>
        </p:nvSpPr>
        <p:spPr>
          <a:xfrm>
            <a:off x="7315200" y="1600200"/>
            <a:ext cx="1371600" cy="685800"/>
          </a:xfrm>
          <a:prstGeom prst="roundRect">
            <a:avLst>
              <a:gd name="adj" fmla="val 49333"/>
            </a:avLst>
          </a:prstGeom>
          <a:solidFill>
            <a:schemeClr val="accent5"/>
          </a:solidFill>
          <a:ln w="12700">
            <a:solidFill>
              <a:schemeClr val="accent5"/>
            </a:solidFill>
            <a:prstDash val="solid"/>
          </a:ln>
        </p:spPr>
      </p:sp>
      <p:sp>
        <p:nvSpPr>
          <p:cNvPr id="23" name="statetxt-221"/>
          <p:cNvSpPr txBox="1"/>
          <p:nvPr/>
        </p:nvSpPr>
        <p:spPr>
          <a:xfrm>
            <a:off x="7315200" y="1600200"/>
            <a:ext cx="1371600" cy="685800"/>
          </a:xfrm>
          <a:prstGeom prst="rect">
            <a:avLst/>
          </a:prstGeom>
          <a:noFill/>
          <a:ln/>
        </p:spPr>
        <p:txBody>
          <a:bodyPr wrap="square" lIns="0" tIns="0" rIns="0" bIns="0" rtlCol="0" anchor="ctr"/>
          <a:lstStyle/>
          <a:p>
            <a:pPr algn="ctr" indent="0" marL="0">
              <a:buNone/>
            </a:pPr>
            <a:r>
              <a:rPr lang="en-US" sz="1500" b="1" dirty="0">
                <a:solidFill>
                  <a:schemeClr val="bg1"/>
                </a:solidFill>
              </a:rPr>
              <a:t>ARCHIVED</a:t>
            </a:r>
            <a:endParaRPr lang="en-US" sz="1500" dirty="0"/>
          </a:p>
        </p:txBody>
      </p:sp>
      <p:sp>
        <p:nvSpPr>
          <p:cNvPr id="24" name="statedesc-222"/>
          <p:cNvSpPr txBox="1"/>
          <p:nvPr/>
        </p:nvSpPr>
        <p:spPr>
          <a:xfrm>
            <a:off x="7315200" y="2377440"/>
            <a:ext cx="1371600" cy="502920"/>
          </a:xfrm>
          <a:prstGeom prst="rect">
            <a:avLst/>
          </a:prstGeom>
          <a:noFill/>
          <a:ln/>
        </p:spPr>
        <p:txBody>
          <a:bodyPr wrap="square" lIns="0" tIns="0" rIns="0" bIns="0" rtlCol="0" anchor="t"/>
          <a:lstStyle/>
          <a:p>
            <a:pPr algn="ctr" indent="0" marL="0">
              <a:buNone/>
            </a:pPr>
            <a:r>
              <a:rPr lang="en-US" sz="1100" dirty="0">
                <a:solidFill>
                  <a:schemeClr val="tx1"/>
                </a:solidFill>
              </a:rPr>
              <a:t>Đã đóng, chờ xoá</a:t>
            </a:r>
            <a:endParaRPr lang="en-US" sz="1100" dirty="0"/>
          </a:p>
        </p:txBody>
      </p:sp>
      <p:sp>
        <p:nvSpPr>
          <p:cNvPr id="25" name="staterules"/>
          <p:cNvSpPr txBox="1"/>
          <p:nvPr/>
        </p:nvSpPr>
        <p:spPr>
          <a:xfrm>
            <a:off x="457200" y="3108960"/>
            <a:ext cx="8229600" cy="457200"/>
          </a:xfrm>
          <a:prstGeom prst="rect">
            <a:avLst/>
          </a:prstGeom>
          <a:noFill/>
          <a:ln/>
        </p:spPr>
        <p:txBody>
          <a:bodyPr wrap="square" lIns="0" tIns="0" rIns="0" bIns="0" rtlCol="0" anchor="ctr"/>
          <a:lstStyle/>
          <a:p>
            <a:pPr indent="0" marL="0">
              <a:buNone/>
            </a:pPr>
            <a:r>
              <a:rPr lang="en-US" sz="1200" b="1" dirty="0">
                <a:solidFill>
                  <a:schemeClr val="tx2"/>
                </a:solidFill>
              </a:rPr>
              <a:t>Locked → ACTIVE </a:t>
            </a:r>
            <a:pPr indent="0" marL="0">
              <a:buNone/>
            </a:pPr>
            <a:r>
              <a:rPr lang="en-US" sz="1200" dirty="0">
                <a:solidFill>
                  <a:schemeClr val="tx1"/>
                </a:solidFill>
              </a:rPr>
              <a:t>khi hồ sơ bị từ chối.   </a:t>
            </a:r>
            <a:pPr indent="0" marL="0">
              <a:buNone/>
            </a:pPr>
            <a:r>
              <a:rPr lang="en-US" sz="1200" b="1" dirty="0">
                <a:solidFill>
                  <a:schemeClr val="tx2"/>
                </a:solidFill>
              </a:rPr>
              <a:t>DMS: </a:t>
            </a:r>
            <a:pPr indent="0" marL="0">
              <a:buNone/>
            </a:pPr>
            <a:r>
              <a:rPr lang="en-US" sz="1200" dirty="0">
                <a:solidFill>
                  <a:schemeClr val="tx1"/>
                </a:solidFill>
              </a:rPr>
              <a:t>ACTIVE → TRIGGERED (hoặc SUSPENDED bởi Admin).</a:t>
            </a:r>
            <a:endParaRPr lang="en-US" sz="1200" dirty="0"/>
          </a:p>
        </p:txBody>
      </p:sp>
      <p:sp>
        <p:nvSpPr>
          <p:cNvPr id="26" name="note-223"/>
          <p:cNvSpPr/>
          <p:nvPr/>
        </p:nvSpPr>
        <p:spPr>
          <a:xfrm>
            <a:off x="457200" y="3931920"/>
            <a:ext cx="8229600" cy="640080"/>
          </a:xfrm>
          <a:prstGeom prst="roundRect">
            <a:avLst>
              <a:gd name="adj" fmla="val 11429"/>
            </a:avLst>
          </a:prstGeom>
          <a:solidFill>
            <a:schemeClr val="accent6">
              <a:alpha val="45000"/>
            </a:schemeClr>
          </a:solidFill>
          <a:ln w="12700">
            <a:solidFill>
              <a:schemeClr val="accent6"/>
            </a:solidFill>
            <a:prstDash val="solid"/>
          </a:ln>
        </p:spPr>
      </p:sp>
      <p:sp>
        <p:nvSpPr>
          <p:cNvPr id="27" name="notetxt-224"/>
          <p:cNvSpPr txBox="1"/>
          <p:nvPr/>
        </p:nvSpPr>
        <p:spPr>
          <a:xfrm>
            <a:off x="640080" y="3931920"/>
            <a:ext cx="7863840" cy="640080"/>
          </a:xfrm>
          <a:prstGeom prst="rect">
            <a:avLst/>
          </a:prstGeom>
          <a:noFill/>
          <a:ln/>
        </p:spPr>
        <p:txBody>
          <a:bodyPr wrap="square" lIns="0" tIns="0" rIns="0" bIns="0" rtlCol="0" anchor="ctr"/>
          <a:lstStyle/>
          <a:p>
            <a:pPr indent="0" marL="0">
              <a:buNone/>
            </a:pPr>
            <a:r>
              <a:rPr lang="en-US" sz="1200" b="1" dirty="0">
                <a:solidFill>
                  <a:schemeClr val="tx2"/>
                </a:solidFill>
              </a:rPr>
              <a:t>Điểm nhấn: </a:t>
            </a:r>
            <a:pPr indent="0" marL="0">
              <a:buNone/>
            </a:pPr>
            <a:r>
              <a:rPr lang="en-US" sz="1200" dirty="0">
                <a:solidFill>
                  <a:schemeClr val="tx1"/>
                </a:solidFill>
              </a:rPr>
              <a:t>giao diện chỉ hiện một nhãn trạng thái; rê chuột vào "Locked" để xem lý do.</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498080" cy="566928"/>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Kịch bản demo: câu chuyện của An</a:t>
            </a:r>
            <a:endParaRPr lang="en-US" sz="2800" dirty="0"/>
          </a:p>
        </p:txBody>
      </p:sp>
      <p:sp>
        <p:nvSpPr>
          <p:cNvPr id="3" name="Text 0"/>
          <p:cNvSpPr/>
          <p:nvPr>
            <p:ph idx="101" type="body" hasCustomPrompt="1"/>
          </p:nvPr>
        </p:nvSpPr>
        <p:spPr>
          <a:xfrm>
            <a:off x="457200" y="804672"/>
            <a:ext cx="7498080" cy="365760"/>
          </a:xfrm>
          <a:prstGeom prst="rect">
            <a:avLst/>
          </a:prstGeom>
          <a:noFill/>
          <a:ln/>
        </p:spPr>
        <p:txBody>
          <a:bodyPr wrap="square" lIns="0" tIns="0" rIns="0" bIns="0" rtlCol="0" anchor="t"/>
          <a:lstStyle/>
          <a:p>
            <a:pPr algn="l" indent="0" marL="0">
              <a:buNone/>
            </a:pPr>
            <a:r>
              <a:rPr lang="en-US" sz="1400" dirty="0">
                <a:solidFill>
                  <a:schemeClr val="accent5"/>
                </a:solidFill>
                <a:latin typeface="Calibri" pitchFamily="34" charset="0"/>
                <a:ea typeface="Calibri" pitchFamily="34" charset="-122"/>
                <a:cs typeface="Calibri" pitchFamily="34" charset="-120"/>
              </a:rPr>
              <a:t>Bốn trình duyệt, bốn vai, khoảng 15 phút</a:t>
            </a:r>
            <a:endParaRPr lang="en-US" sz="1400" dirty="0"/>
          </a:p>
        </p:txBody>
      </p:sp>
      <p:sp>
        <p:nvSpPr>
          <p:cNvPr id="4" name="badge-225"/>
          <p:cNvSpPr/>
          <p:nvPr/>
        </p:nvSpPr>
        <p:spPr>
          <a:xfrm>
            <a:off x="8092440" y="274320"/>
            <a:ext cx="548640" cy="548640"/>
          </a:xfrm>
          <a:prstGeom prst="ellipse">
            <a:avLst/>
          </a:prstGeom>
          <a:solidFill>
            <a:schemeClr val="accent2"/>
          </a:solidFill>
          <a:ln w="12700">
            <a:solidFill>
              <a:schemeClr val="accent2"/>
            </a:solidFill>
            <a:prstDash val="solid"/>
          </a:ln>
        </p:spPr>
      </p:sp>
      <p:pic>
        <p:nvPicPr>
          <p:cNvPr id="5" name="icon-226" descr="icon">    </p:cNvPr>
          <p:cNvPicPr>
            <a:picLocks noChangeAspect="1"/>
          </p:cNvPicPr>
          <p:nvPr/>
        </p:nvPicPr>
        <p:blipFill>
          <a:blip r:embed="rId1"/>
          <a:stretch>
            <a:fillRect/>
          </a:stretch>
        </p:blipFill>
        <p:spPr>
          <a:xfrm>
            <a:off x="8202168" y="384048"/>
            <a:ext cx="329184" cy="329184"/>
          </a:xfrm>
          <a:prstGeom prst="rect">
            <a:avLst/>
          </a:prstGeom>
        </p:spPr>
      </p:pic>
      <p:sp>
        <p:nvSpPr>
          <p:cNvPr id="6" name="row-227"/>
          <p:cNvSpPr/>
          <p:nvPr/>
        </p:nvSpPr>
        <p:spPr>
          <a:xfrm>
            <a:off x="457200" y="1325880"/>
            <a:ext cx="8229600" cy="457200"/>
          </a:xfrm>
          <a:prstGeom prst="roundRect">
            <a:avLst>
              <a:gd name="adj" fmla="val 16000"/>
            </a:avLst>
          </a:prstGeom>
          <a:solidFill>
            <a:schemeClr val="bg2"/>
          </a:solidFill>
          <a:ln w="9525">
            <a:solidFill>
              <a:schemeClr val="bg2"/>
            </a:solidFill>
            <a:prstDash val="solid"/>
          </a:ln>
        </p:spPr>
      </p:sp>
      <p:sp>
        <p:nvSpPr>
          <p:cNvPr id="7" name="who-228"/>
          <p:cNvSpPr txBox="1"/>
          <p:nvPr/>
        </p:nvSpPr>
        <p:spPr>
          <a:xfrm>
            <a:off x="640080" y="1325880"/>
            <a:ext cx="1463040" cy="457200"/>
          </a:xfrm>
          <a:prstGeom prst="rect">
            <a:avLst/>
          </a:prstGeom>
          <a:noFill/>
          <a:ln/>
        </p:spPr>
        <p:txBody>
          <a:bodyPr wrap="square" lIns="0" tIns="0" rIns="0" bIns="0" rtlCol="0" anchor="ctr"/>
          <a:lstStyle/>
          <a:p>
            <a:pPr indent="0" marL="0">
              <a:buNone/>
            </a:pPr>
            <a:r>
              <a:rPr lang="en-US" sz="1300" b="1" dirty="0">
                <a:solidFill>
                  <a:schemeClr val="tx2"/>
                </a:solidFill>
              </a:rPr>
              <a:t>An</a:t>
            </a:r>
            <a:endParaRPr lang="en-US" sz="1300" dirty="0"/>
          </a:p>
        </p:txBody>
      </p:sp>
      <p:sp>
        <p:nvSpPr>
          <p:cNvPr id="8" name="what-229"/>
          <p:cNvSpPr txBox="1"/>
          <p:nvPr/>
        </p:nvSpPr>
        <p:spPr>
          <a:xfrm>
            <a:off x="2148840" y="1325880"/>
            <a:ext cx="5760720" cy="457200"/>
          </a:xfrm>
          <a:prstGeom prst="rect">
            <a:avLst/>
          </a:prstGeom>
          <a:noFill/>
          <a:ln/>
        </p:spPr>
        <p:txBody>
          <a:bodyPr wrap="square" lIns="0" tIns="0" rIns="0" bIns="0" rtlCol="0" anchor="ctr"/>
          <a:lstStyle/>
          <a:p>
            <a:pPr indent="0" marL="0">
              <a:buNone/>
            </a:pPr>
            <a:r>
              <a:rPr lang="en-US" sz="1250" dirty="0">
                <a:solidFill>
                  <a:schemeClr val="tx1"/>
                </a:solidFill>
              </a:rPr>
              <a:t>Lập vault, chọn Lan, chỉ định Minh &amp; Hoa, bật DMS, check-in</a:t>
            </a:r>
            <a:endParaRPr lang="en-US" sz="1250" dirty="0"/>
          </a:p>
        </p:txBody>
      </p:sp>
      <p:sp>
        <p:nvSpPr>
          <p:cNvPr id="9" name="time-230"/>
          <p:cNvSpPr txBox="1"/>
          <p:nvPr/>
        </p:nvSpPr>
        <p:spPr>
          <a:xfrm>
            <a:off x="7955280" y="1325880"/>
            <a:ext cx="548640" cy="457200"/>
          </a:xfrm>
          <a:prstGeom prst="rect">
            <a:avLst/>
          </a:prstGeom>
          <a:noFill/>
          <a:ln/>
        </p:spPr>
        <p:txBody>
          <a:bodyPr wrap="square" lIns="0" tIns="0" rIns="0" bIns="0" rtlCol="0" anchor="ctr"/>
          <a:lstStyle/>
          <a:p>
            <a:pPr algn="r" indent="0" marL="0">
              <a:buNone/>
            </a:pPr>
            <a:r>
              <a:rPr lang="en-US" sz="1250" b="1" dirty="0">
                <a:solidFill>
                  <a:schemeClr val="accent2"/>
                </a:solidFill>
              </a:rPr>
              <a:t>3'</a:t>
            </a:r>
            <a:endParaRPr lang="en-US" sz="1250" dirty="0"/>
          </a:p>
        </p:txBody>
      </p:sp>
      <p:sp>
        <p:nvSpPr>
          <p:cNvPr id="10" name="row-231"/>
          <p:cNvSpPr/>
          <p:nvPr/>
        </p:nvSpPr>
        <p:spPr>
          <a:xfrm>
            <a:off x="457200" y="1874520"/>
            <a:ext cx="8229600" cy="457200"/>
          </a:xfrm>
          <a:prstGeom prst="roundRect">
            <a:avLst>
              <a:gd name="adj" fmla="val 16000"/>
            </a:avLst>
          </a:prstGeom>
          <a:solidFill>
            <a:schemeClr val="bg1"/>
          </a:solidFill>
          <a:ln w="9525">
            <a:solidFill>
              <a:schemeClr val="bg2"/>
            </a:solidFill>
            <a:prstDash val="solid"/>
          </a:ln>
        </p:spPr>
      </p:sp>
      <p:sp>
        <p:nvSpPr>
          <p:cNvPr id="11" name="who-232"/>
          <p:cNvSpPr txBox="1"/>
          <p:nvPr/>
        </p:nvSpPr>
        <p:spPr>
          <a:xfrm>
            <a:off x="640080" y="1874520"/>
            <a:ext cx="1463040" cy="457200"/>
          </a:xfrm>
          <a:prstGeom prst="rect">
            <a:avLst/>
          </a:prstGeom>
          <a:noFill/>
          <a:ln/>
        </p:spPr>
        <p:txBody>
          <a:bodyPr wrap="square" lIns="0" tIns="0" rIns="0" bIns="0" rtlCol="0" anchor="ctr"/>
          <a:lstStyle/>
          <a:p>
            <a:pPr indent="0" marL="0">
              <a:buNone/>
            </a:pPr>
            <a:r>
              <a:rPr lang="en-US" sz="1300" b="1" dirty="0">
                <a:solidFill>
                  <a:schemeClr val="tx2"/>
                </a:solidFill>
              </a:rPr>
              <a:t>Hệ thống</a:t>
            </a:r>
            <a:endParaRPr lang="en-US" sz="1300" dirty="0"/>
          </a:p>
        </p:txBody>
      </p:sp>
      <p:sp>
        <p:nvSpPr>
          <p:cNvPr id="12" name="what-233"/>
          <p:cNvSpPr txBox="1"/>
          <p:nvPr/>
        </p:nvSpPr>
        <p:spPr>
          <a:xfrm>
            <a:off x="2148840" y="1874520"/>
            <a:ext cx="5760720" cy="457200"/>
          </a:xfrm>
          <a:prstGeom prst="rect">
            <a:avLst/>
          </a:prstGeom>
          <a:noFill/>
          <a:ln/>
        </p:spPr>
        <p:txBody>
          <a:bodyPr wrap="square" lIns="0" tIns="0" rIns="0" bIns="0" rtlCol="0" anchor="ctr"/>
          <a:lstStyle/>
          <a:p>
            <a:pPr indent="0" marL="0">
              <a:buNone/>
            </a:pPr>
            <a:r>
              <a:rPr lang="en-US" sz="1250" dirty="0">
                <a:solidFill>
                  <a:schemeClr val="tx1"/>
                </a:solidFill>
              </a:rPr>
              <a:t>Tua thời gian bằng SQL → DMS kích hoạt, mail gửi Minh</a:t>
            </a:r>
            <a:endParaRPr lang="en-US" sz="1250" dirty="0"/>
          </a:p>
        </p:txBody>
      </p:sp>
      <p:sp>
        <p:nvSpPr>
          <p:cNvPr id="13" name="time-234"/>
          <p:cNvSpPr txBox="1"/>
          <p:nvPr/>
        </p:nvSpPr>
        <p:spPr>
          <a:xfrm>
            <a:off x="7955280" y="1874520"/>
            <a:ext cx="548640" cy="457200"/>
          </a:xfrm>
          <a:prstGeom prst="rect">
            <a:avLst/>
          </a:prstGeom>
          <a:noFill/>
          <a:ln/>
        </p:spPr>
        <p:txBody>
          <a:bodyPr wrap="square" lIns="0" tIns="0" rIns="0" bIns="0" rtlCol="0" anchor="ctr"/>
          <a:lstStyle/>
          <a:p>
            <a:pPr algn="r" indent="0" marL="0">
              <a:buNone/>
            </a:pPr>
            <a:r>
              <a:rPr lang="en-US" sz="1250" b="1" dirty="0">
                <a:solidFill>
                  <a:schemeClr val="accent2"/>
                </a:solidFill>
              </a:rPr>
              <a:t>2'</a:t>
            </a:r>
            <a:endParaRPr lang="en-US" sz="1250" dirty="0"/>
          </a:p>
        </p:txBody>
      </p:sp>
      <p:sp>
        <p:nvSpPr>
          <p:cNvPr id="14" name="row-235"/>
          <p:cNvSpPr/>
          <p:nvPr/>
        </p:nvSpPr>
        <p:spPr>
          <a:xfrm>
            <a:off x="457200" y="2423160"/>
            <a:ext cx="8229600" cy="457200"/>
          </a:xfrm>
          <a:prstGeom prst="roundRect">
            <a:avLst>
              <a:gd name="adj" fmla="val 16000"/>
            </a:avLst>
          </a:prstGeom>
          <a:solidFill>
            <a:schemeClr val="bg2"/>
          </a:solidFill>
          <a:ln w="9525">
            <a:solidFill>
              <a:schemeClr val="bg2"/>
            </a:solidFill>
            <a:prstDash val="solid"/>
          </a:ln>
        </p:spPr>
      </p:sp>
      <p:sp>
        <p:nvSpPr>
          <p:cNvPr id="15" name="who-236"/>
          <p:cNvSpPr txBox="1"/>
          <p:nvPr/>
        </p:nvSpPr>
        <p:spPr>
          <a:xfrm>
            <a:off x="640080" y="2423160"/>
            <a:ext cx="1463040" cy="457200"/>
          </a:xfrm>
          <a:prstGeom prst="rect">
            <a:avLst/>
          </a:prstGeom>
          <a:noFill/>
          <a:ln/>
        </p:spPr>
        <p:txBody>
          <a:bodyPr wrap="square" lIns="0" tIns="0" rIns="0" bIns="0" rtlCol="0" anchor="ctr"/>
          <a:lstStyle/>
          <a:p>
            <a:pPr indent="0" marL="0">
              <a:buNone/>
            </a:pPr>
            <a:r>
              <a:rPr lang="en-US" sz="1300" b="1" dirty="0">
                <a:solidFill>
                  <a:schemeClr val="tx2"/>
                </a:solidFill>
              </a:rPr>
              <a:t>Minh</a:t>
            </a:r>
            <a:endParaRPr lang="en-US" sz="1300" dirty="0"/>
          </a:p>
        </p:txBody>
      </p:sp>
      <p:sp>
        <p:nvSpPr>
          <p:cNvPr id="16" name="what-237"/>
          <p:cNvSpPr txBox="1"/>
          <p:nvPr/>
        </p:nvSpPr>
        <p:spPr>
          <a:xfrm>
            <a:off x="2148840" y="2423160"/>
            <a:ext cx="5760720" cy="457200"/>
          </a:xfrm>
          <a:prstGeom prst="rect">
            <a:avLst/>
          </a:prstGeom>
          <a:noFill/>
          <a:ln/>
        </p:spPr>
        <p:txBody>
          <a:bodyPr wrap="square" lIns="0" tIns="0" rIns="0" bIns="0" rtlCol="0" anchor="ctr"/>
          <a:lstStyle/>
          <a:p>
            <a:pPr indent="0" marL="0">
              <a:buNone/>
            </a:pPr>
            <a:r>
              <a:rPr lang="en-US" sz="1250" dirty="0">
                <a:solidFill>
                  <a:schemeClr val="tx1"/>
                </a:solidFill>
              </a:rPr>
              <a:t>Acknowledge, nộp giấy chứng tử; vault của An chuyển Locked</a:t>
            </a:r>
            <a:endParaRPr lang="en-US" sz="1250" dirty="0"/>
          </a:p>
        </p:txBody>
      </p:sp>
      <p:sp>
        <p:nvSpPr>
          <p:cNvPr id="17" name="time-238"/>
          <p:cNvSpPr txBox="1"/>
          <p:nvPr/>
        </p:nvSpPr>
        <p:spPr>
          <a:xfrm>
            <a:off x="7955280" y="2423160"/>
            <a:ext cx="548640" cy="457200"/>
          </a:xfrm>
          <a:prstGeom prst="rect">
            <a:avLst/>
          </a:prstGeom>
          <a:noFill/>
          <a:ln/>
        </p:spPr>
        <p:txBody>
          <a:bodyPr wrap="square" lIns="0" tIns="0" rIns="0" bIns="0" rtlCol="0" anchor="ctr"/>
          <a:lstStyle/>
          <a:p>
            <a:pPr algn="r" indent="0" marL="0">
              <a:buNone/>
            </a:pPr>
            <a:r>
              <a:rPr lang="en-US" sz="1250" b="1" dirty="0">
                <a:solidFill>
                  <a:schemeClr val="accent2"/>
                </a:solidFill>
              </a:rPr>
              <a:t>2'</a:t>
            </a:r>
            <a:endParaRPr lang="en-US" sz="1250" dirty="0"/>
          </a:p>
        </p:txBody>
      </p:sp>
      <p:sp>
        <p:nvSpPr>
          <p:cNvPr id="18" name="row-239"/>
          <p:cNvSpPr/>
          <p:nvPr/>
        </p:nvSpPr>
        <p:spPr>
          <a:xfrm>
            <a:off x="457200" y="2971800"/>
            <a:ext cx="8229600" cy="457200"/>
          </a:xfrm>
          <a:prstGeom prst="roundRect">
            <a:avLst>
              <a:gd name="adj" fmla="val 16000"/>
            </a:avLst>
          </a:prstGeom>
          <a:solidFill>
            <a:schemeClr val="bg1"/>
          </a:solidFill>
          <a:ln w="9525">
            <a:solidFill>
              <a:schemeClr val="bg2"/>
            </a:solidFill>
            <a:prstDash val="solid"/>
          </a:ln>
        </p:spPr>
      </p:sp>
      <p:sp>
        <p:nvSpPr>
          <p:cNvPr id="19" name="who-240"/>
          <p:cNvSpPr txBox="1"/>
          <p:nvPr/>
        </p:nvSpPr>
        <p:spPr>
          <a:xfrm>
            <a:off x="640080" y="2971800"/>
            <a:ext cx="1463040" cy="457200"/>
          </a:xfrm>
          <a:prstGeom prst="rect">
            <a:avLst/>
          </a:prstGeom>
          <a:noFill/>
          <a:ln/>
        </p:spPr>
        <p:txBody>
          <a:bodyPr wrap="square" lIns="0" tIns="0" rIns="0" bIns="0" rtlCol="0" anchor="ctr"/>
          <a:lstStyle/>
          <a:p>
            <a:pPr indent="0" marL="0">
              <a:buNone/>
            </a:pPr>
            <a:r>
              <a:rPr lang="en-US" sz="1300" b="1" dirty="0">
                <a:solidFill>
                  <a:schemeClr val="tx2"/>
                </a:solidFill>
              </a:rPr>
              <a:t>Luật sư Hùng</a:t>
            </a:r>
            <a:endParaRPr lang="en-US" sz="1300" dirty="0"/>
          </a:p>
        </p:txBody>
      </p:sp>
      <p:sp>
        <p:nvSpPr>
          <p:cNvPr id="20" name="what-241"/>
          <p:cNvSpPr txBox="1"/>
          <p:nvPr/>
        </p:nvSpPr>
        <p:spPr>
          <a:xfrm>
            <a:off x="2148840" y="2971800"/>
            <a:ext cx="5760720" cy="457200"/>
          </a:xfrm>
          <a:prstGeom prst="rect">
            <a:avLst/>
          </a:prstGeom>
          <a:noFill/>
          <a:ln/>
        </p:spPr>
        <p:txBody>
          <a:bodyPr wrap="square" lIns="0" tIns="0" rIns="0" bIns="0" rtlCol="0" anchor="ctr"/>
          <a:lstStyle/>
          <a:p>
            <a:pPr indent="0" marL="0">
              <a:buNone/>
            </a:pPr>
            <a:r>
              <a:rPr lang="en-US" sz="1250" dirty="0">
                <a:solidFill>
                  <a:schemeClr val="tx1"/>
                </a:solidFill>
              </a:rPr>
              <a:t>Xem hồ sơ, nhắn tin, Approve, ký bằng OTP</a:t>
            </a:r>
            <a:endParaRPr lang="en-US" sz="1250" dirty="0"/>
          </a:p>
        </p:txBody>
      </p:sp>
      <p:sp>
        <p:nvSpPr>
          <p:cNvPr id="21" name="time-242"/>
          <p:cNvSpPr txBox="1"/>
          <p:nvPr/>
        </p:nvSpPr>
        <p:spPr>
          <a:xfrm>
            <a:off x="7955280" y="2971800"/>
            <a:ext cx="548640" cy="457200"/>
          </a:xfrm>
          <a:prstGeom prst="rect">
            <a:avLst/>
          </a:prstGeom>
          <a:noFill/>
          <a:ln/>
        </p:spPr>
        <p:txBody>
          <a:bodyPr wrap="square" lIns="0" tIns="0" rIns="0" bIns="0" rtlCol="0" anchor="ctr"/>
          <a:lstStyle/>
          <a:p>
            <a:pPr algn="r" indent="0" marL="0">
              <a:buNone/>
            </a:pPr>
            <a:r>
              <a:rPr lang="en-US" sz="1250" b="1" dirty="0">
                <a:solidFill>
                  <a:schemeClr val="accent2"/>
                </a:solidFill>
              </a:rPr>
              <a:t>3'</a:t>
            </a:r>
            <a:endParaRPr lang="en-US" sz="1250" dirty="0"/>
          </a:p>
        </p:txBody>
      </p:sp>
      <p:sp>
        <p:nvSpPr>
          <p:cNvPr id="22" name="row-243"/>
          <p:cNvSpPr/>
          <p:nvPr/>
        </p:nvSpPr>
        <p:spPr>
          <a:xfrm>
            <a:off x="457200" y="3520440"/>
            <a:ext cx="8229600" cy="457200"/>
          </a:xfrm>
          <a:prstGeom prst="roundRect">
            <a:avLst>
              <a:gd name="adj" fmla="val 16000"/>
            </a:avLst>
          </a:prstGeom>
          <a:solidFill>
            <a:schemeClr val="bg2"/>
          </a:solidFill>
          <a:ln w="9525">
            <a:solidFill>
              <a:schemeClr val="bg2"/>
            </a:solidFill>
            <a:prstDash val="solid"/>
          </a:ln>
        </p:spPr>
      </p:sp>
      <p:sp>
        <p:nvSpPr>
          <p:cNvPr id="23" name="who-244"/>
          <p:cNvSpPr txBox="1"/>
          <p:nvPr/>
        </p:nvSpPr>
        <p:spPr>
          <a:xfrm>
            <a:off x="640080" y="3520440"/>
            <a:ext cx="1463040" cy="457200"/>
          </a:xfrm>
          <a:prstGeom prst="rect">
            <a:avLst/>
          </a:prstGeom>
          <a:noFill/>
          <a:ln/>
        </p:spPr>
        <p:txBody>
          <a:bodyPr wrap="square" lIns="0" tIns="0" rIns="0" bIns="0" rtlCol="0" anchor="ctr"/>
          <a:lstStyle/>
          <a:p>
            <a:pPr indent="0" marL="0">
              <a:buNone/>
            </a:pPr>
            <a:r>
              <a:rPr lang="en-US" sz="1300" b="1" dirty="0">
                <a:solidFill>
                  <a:schemeClr val="tx2"/>
                </a:solidFill>
              </a:rPr>
              <a:t>Lan</a:t>
            </a:r>
            <a:endParaRPr lang="en-US" sz="1300" dirty="0"/>
          </a:p>
        </p:txBody>
      </p:sp>
      <p:sp>
        <p:nvSpPr>
          <p:cNvPr id="24" name="what-245"/>
          <p:cNvSpPr txBox="1"/>
          <p:nvPr/>
        </p:nvSpPr>
        <p:spPr>
          <a:xfrm>
            <a:off x="2148840" y="3520440"/>
            <a:ext cx="5760720" cy="457200"/>
          </a:xfrm>
          <a:prstGeom prst="rect">
            <a:avLst/>
          </a:prstGeom>
          <a:noFill/>
          <a:ln/>
        </p:spPr>
        <p:txBody>
          <a:bodyPr wrap="square" lIns="0" tIns="0" rIns="0" bIns="0" rtlCol="0" anchor="ctr"/>
          <a:lstStyle/>
          <a:p>
            <a:pPr indent="0" marL="0">
              <a:buNone/>
            </a:pPr>
            <a:r>
              <a:rPr lang="en-US" sz="1250" dirty="0">
                <a:solidFill>
                  <a:schemeClr val="tx1"/>
                </a:solidFill>
              </a:rPr>
              <a:t>Nhận thông báo, xác minh danh tính, tải tài liệu, đóng vault</a:t>
            </a:r>
            <a:endParaRPr lang="en-US" sz="1250" dirty="0"/>
          </a:p>
        </p:txBody>
      </p:sp>
      <p:sp>
        <p:nvSpPr>
          <p:cNvPr id="25" name="time-246"/>
          <p:cNvSpPr txBox="1"/>
          <p:nvPr/>
        </p:nvSpPr>
        <p:spPr>
          <a:xfrm>
            <a:off x="7955280" y="3520440"/>
            <a:ext cx="548640" cy="457200"/>
          </a:xfrm>
          <a:prstGeom prst="rect">
            <a:avLst/>
          </a:prstGeom>
          <a:noFill/>
          <a:ln/>
        </p:spPr>
        <p:txBody>
          <a:bodyPr wrap="square" lIns="0" tIns="0" rIns="0" bIns="0" rtlCol="0" anchor="ctr"/>
          <a:lstStyle/>
          <a:p>
            <a:pPr algn="r" indent="0" marL="0">
              <a:buNone/>
            </a:pPr>
            <a:r>
              <a:rPr lang="en-US" sz="1250" b="1" dirty="0">
                <a:solidFill>
                  <a:schemeClr val="accent2"/>
                </a:solidFill>
              </a:rPr>
              <a:t>3'</a:t>
            </a:r>
            <a:endParaRPr lang="en-US" sz="1250" dirty="0"/>
          </a:p>
        </p:txBody>
      </p:sp>
      <p:sp>
        <p:nvSpPr>
          <p:cNvPr id="26" name="row-247"/>
          <p:cNvSpPr/>
          <p:nvPr/>
        </p:nvSpPr>
        <p:spPr>
          <a:xfrm>
            <a:off x="457200" y="4069080"/>
            <a:ext cx="8229600" cy="457200"/>
          </a:xfrm>
          <a:prstGeom prst="roundRect">
            <a:avLst>
              <a:gd name="adj" fmla="val 16000"/>
            </a:avLst>
          </a:prstGeom>
          <a:solidFill>
            <a:schemeClr val="bg1"/>
          </a:solidFill>
          <a:ln w="9525">
            <a:solidFill>
              <a:schemeClr val="bg2"/>
            </a:solidFill>
            <a:prstDash val="solid"/>
          </a:ln>
        </p:spPr>
      </p:sp>
      <p:sp>
        <p:nvSpPr>
          <p:cNvPr id="27" name="who-248"/>
          <p:cNvSpPr txBox="1"/>
          <p:nvPr/>
        </p:nvSpPr>
        <p:spPr>
          <a:xfrm>
            <a:off x="640080" y="4069080"/>
            <a:ext cx="1463040" cy="457200"/>
          </a:xfrm>
          <a:prstGeom prst="rect">
            <a:avLst/>
          </a:prstGeom>
          <a:noFill/>
          <a:ln/>
        </p:spPr>
        <p:txBody>
          <a:bodyPr wrap="square" lIns="0" tIns="0" rIns="0" bIns="0" rtlCol="0" anchor="ctr"/>
          <a:lstStyle/>
          <a:p>
            <a:pPr indent="0" marL="0">
              <a:buNone/>
            </a:pPr>
            <a:r>
              <a:rPr lang="en-US" sz="1300" b="1" dirty="0">
                <a:solidFill>
                  <a:schemeClr val="tx2"/>
                </a:solidFill>
              </a:rPr>
              <a:t>Admin</a:t>
            </a:r>
            <a:endParaRPr lang="en-US" sz="1300" dirty="0"/>
          </a:p>
        </p:txBody>
      </p:sp>
      <p:sp>
        <p:nvSpPr>
          <p:cNvPr id="28" name="what-249"/>
          <p:cNvSpPr txBox="1"/>
          <p:nvPr/>
        </p:nvSpPr>
        <p:spPr>
          <a:xfrm>
            <a:off x="2148840" y="4069080"/>
            <a:ext cx="5760720" cy="457200"/>
          </a:xfrm>
          <a:prstGeom prst="rect">
            <a:avLst/>
          </a:prstGeom>
          <a:noFill/>
          <a:ln/>
        </p:spPr>
        <p:txBody>
          <a:bodyPr wrap="square" lIns="0" tIns="0" rIns="0" bIns="0" rtlCol="0" anchor="ctr"/>
          <a:lstStyle/>
          <a:p>
            <a:pPr indent="0" marL="0">
              <a:buNone/>
            </a:pPr>
            <a:r>
              <a:rPr lang="en-US" sz="1250" dirty="0">
                <a:solidFill>
                  <a:schemeClr val="tx1"/>
                </a:solidFill>
              </a:rPr>
              <a:t>Audit log toàn hành trình, cảnh báo bảo mật</a:t>
            </a:r>
            <a:endParaRPr lang="en-US" sz="1250" dirty="0"/>
          </a:p>
        </p:txBody>
      </p:sp>
      <p:sp>
        <p:nvSpPr>
          <p:cNvPr id="29" name="time-250"/>
          <p:cNvSpPr txBox="1"/>
          <p:nvPr/>
        </p:nvSpPr>
        <p:spPr>
          <a:xfrm>
            <a:off x="7955280" y="4069080"/>
            <a:ext cx="548640" cy="457200"/>
          </a:xfrm>
          <a:prstGeom prst="rect">
            <a:avLst/>
          </a:prstGeom>
          <a:noFill/>
          <a:ln/>
        </p:spPr>
        <p:txBody>
          <a:bodyPr wrap="square" lIns="0" tIns="0" rIns="0" bIns="0" rtlCol="0" anchor="ctr"/>
          <a:lstStyle/>
          <a:p>
            <a:pPr algn="r" indent="0" marL="0">
              <a:buNone/>
            </a:pPr>
            <a:r>
              <a:rPr lang="en-US" sz="1250" b="1" dirty="0">
                <a:solidFill>
                  <a:schemeClr val="accent2"/>
                </a:solidFill>
              </a:rPr>
              <a:t>2'</a:t>
            </a:r>
            <a:endParaRPr lang="en-US" sz="12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498080" cy="566928"/>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Hạn chế &amp; hướng phát triển</a:t>
            </a:r>
            <a:endParaRPr lang="en-US" sz="2800" dirty="0"/>
          </a:p>
        </p:txBody>
      </p:sp>
      <p:sp>
        <p:nvSpPr>
          <p:cNvPr id="3" name="Text 0"/>
          <p:cNvSpPr/>
          <p:nvPr>
            <p:ph idx="101" type="body" hasCustomPrompt="1"/>
          </p:nvPr>
        </p:nvSpPr>
        <p:spPr>
          <a:xfrm>
            <a:off x="457200" y="804672"/>
            <a:ext cx="7498080" cy="365760"/>
          </a:xfrm>
          <a:prstGeom prst="rect">
            <a:avLst/>
          </a:prstGeom>
          <a:noFill/>
          <a:ln/>
        </p:spPr>
        <p:txBody>
          <a:bodyPr wrap="square" lIns="0" tIns="0" rIns="0" bIns="0" rtlCol="0" anchor="t"/>
          <a:lstStyle/>
          <a:p>
            <a:pPr algn="l" indent="0" marL="0">
              <a:buNone/>
            </a:pPr>
            <a:r>
              <a:rPr lang="en-US" sz="1400" dirty="0">
                <a:solidFill>
                  <a:schemeClr val="accent5"/>
                </a:solidFill>
                <a:latin typeface="Calibri" pitchFamily="34" charset="0"/>
                <a:ea typeface="Calibri" pitchFamily="34" charset="-122"/>
                <a:cs typeface="Calibri" pitchFamily="34" charset="-120"/>
              </a:rPr>
              <a:t>Nói thẳng những gì còn thiếu</a:t>
            </a:r>
            <a:endParaRPr lang="en-US" sz="1400" dirty="0"/>
          </a:p>
        </p:txBody>
      </p:sp>
      <p:sp>
        <p:nvSpPr>
          <p:cNvPr id="4" name="badge-251"/>
          <p:cNvSpPr/>
          <p:nvPr/>
        </p:nvSpPr>
        <p:spPr>
          <a:xfrm>
            <a:off x="8092440" y="274320"/>
            <a:ext cx="548640" cy="548640"/>
          </a:xfrm>
          <a:prstGeom prst="ellipse">
            <a:avLst/>
          </a:prstGeom>
          <a:solidFill>
            <a:schemeClr val="accent4"/>
          </a:solidFill>
          <a:ln w="12700">
            <a:solidFill>
              <a:schemeClr val="accent4"/>
            </a:solidFill>
            <a:prstDash val="solid"/>
          </a:ln>
        </p:spPr>
      </p:sp>
      <p:pic>
        <p:nvPicPr>
          <p:cNvPr id="5" name="icon-252" descr="icon">    </p:cNvPr>
          <p:cNvPicPr>
            <a:picLocks noChangeAspect="1"/>
          </p:cNvPicPr>
          <p:nvPr/>
        </p:nvPicPr>
        <p:blipFill>
          <a:blip r:embed="rId1"/>
          <a:stretch>
            <a:fillRect/>
          </a:stretch>
        </p:blipFill>
        <p:spPr>
          <a:xfrm>
            <a:off x="8202168" y="384048"/>
            <a:ext cx="329184" cy="329184"/>
          </a:xfrm>
          <a:prstGeom prst="rect">
            <a:avLst/>
          </a:prstGeom>
        </p:spPr>
      </p:pic>
      <p:sp>
        <p:nvSpPr>
          <p:cNvPr id="6" name="limbox-253"/>
          <p:cNvSpPr/>
          <p:nvPr/>
        </p:nvSpPr>
        <p:spPr>
          <a:xfrm>
            <a:off x="457200" y="1371600"/>
            <a:ext cx="4023360" cy="2286000"/>
          </a:xfrm>
          <a:prstGeom prst="roundRect">
            <a:avLst>
              <a:gd name="adj" fmla="val 3200"/>
            </a:avLst>
          </a:prstGeom>
          <a:solidFill>
            <a:schemeClr val="accent4">
              <a:alpha val="12000"/>
            </a:schemeClr>
          </a:solidFill>
          <a:ln w="12700">
            <a:solidFill>
              <a:schemeClr val="accent4"/>
            </a:solidFill>
            <a:prstDash val="solid"/>
          </a:ln>
        </p:spPr>
      </p:sp>
      <p:sp>
        <p:nvSpPr>
          <p:cNvPr id="7" name="limtitle-254"/>
          <p:cNvSpPr txBox="1"/>
          <p:nvPr/>
        </p:nvSpPr>
        <p:spPr>
          <a:xfrm>
            <a:off x="685800" y="1481328"/>
            <a:ext cx="3566160" cy="365760"/>
          </a:xfrm>
          <a:prstGeom prst="rect">
            <a:avLst/>
          </a:prstGeom>
          <a:noFill/>
          <a:ln/>
        </p:spPr>
        <p:txBody>
          <a:bodyPr wrap="square" lIns="0" tIns="0" rIns="0" bIns="0" rtlCol="0" anchor="ctr"/>
          <a:lstStyle/>
          <a:p>
            <a:pPr indent="0" marL="0">
              <a:buNone/>
            </a:pPr>
            <a:r>
              <a:rPr lang="en-US" sz="1500" b="1" dirty="0">
                <a:solidFill>
                  <a:schemeClr val="accent4"/>
                </a:solidFill>
              </a:rPr>
              <a:t>Đang hoàn thiện</a:t>
            </a:r>
            <a:endParaRPr lang="en-US" sz="1500" dirty="0"/>
          </a:p>
        </p:txBody>
      </p:sp>
      <p:sp>
        <p:nvSpPr>
          <p:cNvPr id="8" name="limlist-255"/>
          <p:cNvSpPr txBox="1"/>
          <p:nvPr/>
        </p:nvSpPr>
        <p:spPr>
          <a:xfrm>
            <a:off x="685800" y="1920240"/>
            <a:ext cx="3611880" cy="164592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chemeClr val="tx1"/>
                </a:solidFill>
              </a:rPr>
              <a:t>Primary đã nhận việc nhưng bỏ dở: chưa tự leo thang (hướng: cho Admin cứu hộ sau 14 ngày)</a:t>
            </a:r>
            <a:endParaRPr lang="en-US" sz="1250" dirty="0"/>
          </a:p>
          <a:p>
            <a:pPr marL="342900" indent="-342900">
              <a:spcAft>
                <a:spcPts val="800"/>
              </a:spcAft>
              <a:buSzPct val="100000"/>
              <a:buChar char="•"/>
            </a:pPr>
            <a:r>
              <a:rPr lang="en-US" sz="1250" dirty="0">
                <a:solidFill>
                  <a:schemeClr val="tx1"/>
                </a:solidFill>
              </a:rPr>
              <a:t>Audit log khi giao dịch lỗi cần tách ghi commit / rollback</a:t>
            </a:r>
            <a:endParaRPr lang="en-US" sz="1250" dirty="0"/>
          </a:p>
          <a:p>
            <a:pPr marL="342900" indent="-342900">
              <a:spcAft>
                <a:spcPts val="800"/>
              </a:spcAft>
              <a:buSzPct val="100000"/>
              <a:buChar char="•"/>
            </a:pPr>
            <a:r>
              <a:rPr lang="en-US" sz="1250" dirty="0">
                <a:solidFill>
                  <a:schemeClr val="tx1"/>
                </a:solidFill>
              </a:rPr>
              <a:t>Chuông thông báo trong app cho Executor (BE đã có API)</a:t>
            </a:r>
            <a:endParaRPr lang="en-US" sz="1250" dirty="0"/>
          </a:p>
        </p:txBody>
      </p:sp>
      <p:sp>
        <p:nvSpPr>
          <p:cNvPr id="9" name="limbox-256"/>
          <p:cNvSpPr/>
          <p:nvPr/>
        </p:nvSpPr>
        <p:spPr>
          <a:xfrm>
            <a:off x="4663440" y="1371600"/>
            <a:ext cx="4023360" cy="2286000"/>
          </a:xfrm>
          <a:prstGeom prst="roundRect">
            <a:avLst>
              <a:gd name="adj" fmla="val 3200"/>
            </a:avLst>
          </a:prstGeom>
          <a:solidFill>
            <a:schemeClr val="accent3">
              <a:alpha val="12000"/>
            </a:schemeClr>
          </a:solidFill>
          <a:ln w="12700">
            <a:solidFill>
              <a:schemeClr val="accent3"/>
            </a:solidFill>
            <a:prstDash val="solid"/>
          </a:ln>
        </p:spPr>
      </p:sp>
      <p:sp>
        <p:nvSpPr>
          <p:cNvPr id="10" name="limtitle-257"/>
          <p:cNvSpPr txBox="1"/>
          <p:nvPr/>
        </p:nvSpPr>
        <p:spPr>
          <a:xfrm>
            <a:off x="4892040" y="1481328"/>
            <a:ext cx="3566160" cy="365760"/>
          </a:xfrm>
          <a:prstGeom prst="rect">
            <a:avLst/>
          </a:prstGeom>
          <a:noFill/>
          <a:ln/>
        </p:spPr>
        <p:txBody>
          <a:bodyPr wrap="square" lIns="0" tIns="0" rIns="0" bIns="0" rtlCol="0" anchor="ctr"/>
          <a:lstStyle/>
          <a:p>
            <a:pPr indent="0" marL="0">
              <a:buNone/>
            </a:pPr>
            <a:r>
              <a:rPr lang="en-US" sz="1500" b="1" dirty="0">
                <a:solidFill>
                  <a:schemeClr val="accent3"/>
                </a:solidFill>
              </a:rPr>
              <a:t>Hướng phát triển</a:t>
            </a:r>
            <a:endParaRPr lang="en-US" sz="1500" dirty="0"/>
          </a:p>
        </p:txBody>
      </p:sp>
      <p:sp>
        <p:nvSpPr>
          <p:cNvPr id="11" name="limlist-258"/>
          <p:cNvSpPr txBox="1"/>
          <p:nvPr/>
        </p:nvSpPr>
        <p:spPr>
          <a:xfrm>
            <a:off x="4892040" y="1920240"/>
            <a:ext cx="3611880" cy="164592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chemeClr val="tx1"/>
                </a:solidFill>
              </a:rPr>
              <a:t>eKYC thật thay cho bản mock</a:t>
            </a:r>
            <a:endParaRPr lang="en-US" sz="1250" dirty="0"/>
          </a:p>
          <a:p>
            <a:pPr marL="342900" indent="-342900">
              <a:spcAft>
                <a:spcPts val="800"/>
              </a:spcAft>
              <a:buSzPct val="100000"/>
              <a:buChar char="•"/>
            </a:pPr>
            <a:r>
              <a:rPr lang="en-US" sz="1250" dirty="0">
                <a:solidFill>
                  <a:schemeClr val="tx1"/>
                </a:solidFill>
              </a:rPr>
              <a:t>Ký số bằng chứng thư thay cho OTP</a:t>
            </a:r>
            <a:endParaRPr lang="en-US" sz="1250" dirty="0"/>
          </a:p>
          <a:p>
            <a:pPr marL="342900" indent="-342900">
              <a:spcAft>
                <a:spcPts val="800"/>
              </a:spcAft>
              <a:buSzPct val="100000"/>
              <a:buChar char="•"/>
            </a:pPr>
            <a:r>
              <a:rPr lang="en-US" sz="1250" dirty="0">
                <a:solidFill>
                  <a:schemeClr val="tx1"/>
                </a:solidFill>
              </a:rPr>
              <a:t>Gói thuê bao, thông báo đa kênh (SMS, Zalo)</a:t>
            </a:r>
            <a:endParaRPr lang="en-US" sz="12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logo2" descr="LegacyVault shield">    </p:cNvPr>
          <p:cNvPicPr>
            <a:picLocks noChangeAspect="1"/>
          </p:cNvPicPr>
          <p:nvPr/>
        </p:nvPicPr>
        <p:blipFill>
          <a:blip r:embed="rId1"/>
          <a:stretch>
            <a:fillRect/>
          </a:stretch>
        </p:blipFill>
        <p:spPr>
          <a:xfrm>
            <a:off x="548640" y="685800"/>
            <a:ext cx="685800" cy="685800"/>
          </a:xfrm>
          <a:prstGeom prst="rect">
            <a:avLst/>
          </a:prstGeom>
        </p:spPr>
      </p:pic>
      <p:sp>
        <p:nvSpPr>
          <p:cNvPr id="3" name="Text 0"/>
          <p:cNvSpPr/>
          <p:nvPr>
            <p:ph idx="100" type="title" hasCustomPrompt="1"/>
          </p:nvPr>
        </p:nvSpPr>
        <p:spPr>
          <a:xfrm>
            <a:off x="548640" y="1417320"/>
            <a:ext cx="8046720" cy="109728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Cảm ơn thầy cô</a:t>
            </a:r>
            <a:endParaRPr lang="en-US" sz="4000" dirty="0"/>
          </a:p>
        </p:txBody>
      </p:sp>
      <p:sp>
        <p:nvSpPr>
          <p:cNvPr id="4" name="Text 0"/>
          <p:cNvSpPr/>
          <p:nvPr>
            <p:ph idx="101" type="body" hasCustomPrompt="1"/>
          </p:nvPr>
        </p:nvSpPr>
        <p:spPr>
          <a:xfrm>
            <a:off x="548640" y="2606040"/>
            <a:ext cx="8046720" cy="914400"/>
          </a:xfrm>
          <a:prstGeom prst="rect">
            <a:avLst/>
          </a:prstGeom>
          <a:noFill/>
          <a:ln/>
        </p:spPr>
        <p:txBody>
          <a:bodyPr wrap="square" lIns="0" tIns="0" rIns="0" bIns="0" rtlCol="0" anchor="t"/>
          <a:lstStyle/>
          <a:p>
            <a:pPr algn="l" indent="0" marL="0">
              <a:buNone/>
            </a:pPr>
            <a:r>
              <a:rPr lang="en-US" sz="1800" dirty="0">
                <a:solidFill>
                  <a:schemeClr val="accent6"/>
                </a:solidFill>
                <a:latin typeface="Calibri" pitchFamily="34" charset="0"/>
                <a:ea typeface="Calibri" pitchFamily="34" charset="-122"/>
                <a:cs typeface="Calibri" pitchFamily="34" charset="-120"/>
              </a:rPr>
              <a:t>Hỏi &amp; đáp</a:t>
            </a:r>
            <a:endParaRPr lang="en-US" sz="1800" dirty="0"/>
          </a:p>
        </p:txBody>
      </p:sp>
    </p:spTree>
  </p:cSld>
  <p:clrMapOvr>
    <a:masterClrMapping/>
  </p:clrMapOvr>
</p:sld>
</file>

<file path=ppt/theme/theme1.xml><?xml version="1.0" encoding="utf-8"?>
<a:theme xmlns:a="http://schemas.openxmlformats.org/drawingml/2006/main" name="LegacyVault">
  <a:themeElements>
    <a:clrScheme name="LegacyVault">
      <a:dk1>
        <a:srgbClr val="1B2333"/>
      </a:dk1>
      <a:lt1>
        <a:srgbClr val="FFFFFF"/>
      </a:lt1>
      <a:dk2>
        <a:srgbClr val="0F2347"/>
      </a:dk2>
      <a:lt2>
        <a:srgbClr val="EEF2F8"/>
      </a:lt2>
      <a:accent1>
        <a:srgbClr val="0F2347"/>
      </a:accent1>
      <a:accent2>
        <a:srgbClr val="C9962E"/>
      </a:accent2>
      <a:accent3>
        <a:srgbClr val="2A8C82"/>
      </a:accent3>
      <a:accent4>
        <a:srgbClr val="C2453D"/>
      </a:accent4>
      <a:accent5>
        <a:srgbClr val="5B6B85"/>
      </a:accent5>
      <a:accent6>
        <a:srgbClr val="E7C873"/>
      </a:accent6>
      <a:hlink>
        <a:srgbClr val="2A8C82"/>
      </a:hlink>
      <a:folHlink>
        <a:srgbClr val="5B6B85"/>
      </a:folHlink>
    </a:clrScheme>
    <a:fontScheme name="LegacyVaul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LegacyVault — Các luồng end-to-end</dc:title>
  <dc:subject>PptxGenJS Presentation</dc:subject>
  <dc:creator>LegacyVault team</dc:creator>
  <cp:lastModifiedBy>LegacyVault team</cp:lastModifiedBy>
  <cp:revision>1</cp:revision>
  <dcterms:created xsi:type="dcterms:W3CDTF">2026-10-30T07:37:43Z</dcterms:created>
  <dcterms:modified xsi:type="dcterms:W3CDTF">2026-10-30T07:37:43Z</dcterms:modified>
</cp:coreProperties>
</file>